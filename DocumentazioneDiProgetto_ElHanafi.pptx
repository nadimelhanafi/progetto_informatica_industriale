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10">
  <p:sldMasterIdLst>
    <p:sldMasterId id="2147483688" r:id="rId4"/>
  </p:sldMasterIdLst>
  <p:notesMasterIdLst>
    <p:notesMasterId r:id="rId19"/>
  </p:notesMasterIdLst>
  <p:handoutMasterIdLst>
    <p:handoutMasterId r:id="rId20"/>
  </p:handoutMasterIdLst>
  <p:sldIdLst>
    <p:sldId id="898" r:id="rId5"/>
    <p:sldId id="1129" r:id="rId6"/>
    <p:sldId id="1160" r:id="rId7"/>
    <p:sldId id="1161" r:id="rId8"/>
    <p:sldId id="1162" r:id="rId9"/>
    <p:sldId id="1163" r:id="rId10"/>
    <p:sldId id="1172" r:id="rId11"/>
    <p:sldId id="1165" r:id="rId12"/>
    <p:sldId id="1166" r:id="rId13"/>
    <p:sldId id="1167" r:id="rId14"/>
    <p:sldId id="1168" r:id="rId15"/>
    <p:sldId id="1173" r:id="rId16"/>
    <p:sldId id="1174" r:id="rId17"/>
    <p:sldId id="1171" r:id="rId18"/>
  </p:sldIdLst>
  <p:sldSz cx="12192000" cy="6858000"/>
  <p:notesSz cx="6946900" cy="100584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5pPr>
    <a:lvl6pPr marL="22860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6pPr>
    <a:lvl7pPr marL="27432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7pPr>
    <a:lvl8pPr marL="32004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8pPr>
    <a:lvl9pPr marL="3657600" algn="l" defTabSz="914400" rtl="0" eaLnBrk="1" latinLnBrk="0" hangingPunct="1">
      <a:defRPr sz="2000" kern="1200">
        <a:solidFill>
          <a:schemeClr val="tx1"/>
        </a:solidFill>
        <a:latin typeface="Verdana" panose="020B0604030504040204" pitchFamily="34" charset="0"/>
        <a:ea typeface="ＭＳ Ｐゴシック" panose="020B0600070205080204" pitchFamily="34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86" userDrawn="1">
          <p15:clr>
            <a:srgbClr val="A4A3A4"/>
          </p15:clr>
        </p15:guide>
        <p15:guide id="2" pos="7167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69">
          <p15:clr>
            <a:srgbClr val="A4A3A4"/>
          </p15:clr>
        </p15:guide>
        <p15:guide id="2" pos="218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Xichen Li" initials="XL" lastIdx="9" clrIdx="0">
    <p:extLst>
      <p:ext uri="{19B8F6BF-5375-455C-9EA6-DF929625EA0E}">
        <p15:presenceInfo xmlns:p15="http://schemas.microsoft.com/office/powerpoint/2012/main" userId="45f28ff92f64b98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8FF"/>
    <a:srgbClr val="0070C0"/>
    <a:srgbClr val="0000FF"/>
    <a:srgbClr val="FF00FF"/>
    <a:srgbClr val="FF3399"/>
    <a:srgbClr val="FFCCFF"/>
    <a:srgbClr val="00FF00"/>
    <a:srgbClr val="FFFF66"/>
    <a:srgbClr val="00FFFF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771" autoAdjust="0"/>
    <p:restoredTop sz="95759" autoAdjust="0"/>
  </p:normalViewPr>
  <p:slideViewPr>
    <p:cSldViewPr snapToObjects="1">
      <p:cViewPr>
        <p:scale>
          <a:sx n="82" d="100"/>
          <a:sy n="82" d="100"/>
        </p:scale>
        <p:origin x="638" y="72"/>
      </p:cViewPr>
      <p:guideLst>
        <p:guide orient="horz" pos="686"/>
        <p:guide pos="7167"/>
      </p:guideLst>
    </p:cSldViewPr>
  </p:slideViewPr>
  <p:outlineViewPr>
    <p:cViewPr>
      <p:scale>
        <a:sx n="25" d="100"/>
        <a:sy n="25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 snapToObjects="1">
      <p:cViewPr varScale="1">
        <p:scale>
          <a:sx n="66" d="100"/>
          <a:sy n="66" d="100"/>
        </p:scale>
        <p:origin x="4086" y="54"/>
      </p:cViewPr>
      <p:guideLst>
        <p:guide orient="horz" pos="3169"/>
        <p:guide pos="2187"/>
      </p:guideLst>
    </p:cSldViewPr>
  </p:notes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37000" y="0"/>
            <a:ext cx="3009900" cy="503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Times New Roman" pitchFamily="18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819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37000" y="9555163"/>
            <a:ext cx="3009900" cy="503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Times New Roman" panose="02020603050405020304" pitchFamily="18" charset="0"/>
              </a:defRPr>
            </a:lvl1pPr>
          </a:lstStyle>
          <a:p>
            <a:fld id="{D95DEC9B-2CEC-4405-ADE4-D0456C051506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1767046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90850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1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32238" y="0"/>
            <a:ext cx="2989262" cy="473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>
            <a:lvl1pPr algn="r"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286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749300" y="177800"/>
            <a:ext cx="5446713" cy="30638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922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61925" y="3351213"/>
            <a:ext cx="6623050" cy="6099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altLang="ja-JP" noProof="0"/>
          </a:p>
        </p:txBody>
      </p:sp>
      <p:sp>
        <p:nvSpPr>
          <p:cNvPr id="922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544050"/>
            <a:ext cx="2990850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defTabSz="946150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kumimoji="1" sz="1200">
                <a:latin typeface="Arial" charset="0"/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922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32238" y="9544050"/>
            <a:ext cx="2989262" cy="55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05" tIns="47254" rIns="94505" bIns="47254" numCol="1" anchor="b" anchorCtr="0" compatLnSpc="1">
            <a:prstTxWarp prst="textNoShape">
              <a:avLst/>
            </a:prstTxWarp>
          </a:bodyPr>
          <a:lstStyle>
            <a:lvl1pPr algn="r" defTabSz="946150">
              <a:defRPr kumimoji="1" sz="1200">
                <a:latin typeface="Arial" panose="020B0604020202020204" pitchFamily="34" charset="0"/>
              </a:defRPr>
            </a:lvl1pPr>
          </a:lstStyle>
          <a:p>
            <a:fld id="{D6B6717F-986F-4A3F-9037-B1B1D8AD583E}" type="slidenum">
              <a:rPr lang="en-US" altLang="ja-JP"/>
              <a:pPr/>
              <a:t>‹N›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744385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600" b="1" kern="1200">
        <a:solidFill>
          <a:schemeClr val="tx1"/>
        </a:solidFill>
        <a:latin typeface="Arial" charset="0"/>
        <a:ea typeface="HG丸ｺﾞｼｯｸM-PRO" pitchFamily="50" charset="-128"/>
        <a:cs typeface="+mn-cs"/>
      </a:defRPr>
    </a:lvl1pPr>
    <a:lvl2pPr marL="742950" indent="-28575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2pPr>
    <a:lvl3pPr marL="11430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pitchFamily="18" charset="0"/>
        <a:ea typeface="MS PMincho" pitchFamily="1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B6717F-986F-4A3F-9037-B1B1D8AD583E}" type="slidenum">
              <a:rPr lang="en-US" altLang="ja-JP" smtClean="0"/>
              <a:pPr/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72870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/>
        </p:nvSpPr>
        <p:spPr bwMode="auto">
          <a:xfrm>
            <a:off x="914400" y="3339557"/>
            <a:ext cx="10363200" cy="109538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618" y="0"/>
                </a:lnTo>
                <a:lnTo>
                  <a:pt x="618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36499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990600"/>
            <a:ext cx="10363200" cy="137160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6499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930400" y="3429000"/>
            <a:ext cx="9347200" cy="2635766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800"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585382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CA" dirty="0"/>
          </a:p>
        </p:txBody>
      </p:sp>
      <p:sp>
        <p:nvSpPr>
          <p:cNvPr id="5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2E6AEE32-87CF-4B18-ACD9-DC92317905A5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  <p:sp>
        <p:nvSpPr>
          <p:cNvPr id="6" name="Footer Placeholder 11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z="1400" b="1">
                <a:latin typeface="Comic Sans MS" panose="030F0702030302020204" pitchFamily="66" charset="0"/>
              </a:defRPr>
            </a:lvl1pPr>
          </a:lstStyle>
          <a:p>
            <a:pPr>
              <a:defRPr/>
            </a:pPr>
            <a:endParaRPr lang="en-US" dirty="0">
              <a:solidFill>
                <a:srgbClr val="0000FF"/>
              </a:solidFill>
            </a:endParaRPr>
          </a:p>
        </p:txBody>
      </p:sp>
      <p:pic>
        <p:nvPicPr>
          <p:cNvPr id="4" name="Picture 3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80FB6A95-E479-121B-BCF2-A197FB93F1B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53" y="5943788"/>
            <a:ext cx="766647" cy="8269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F60219-CCBB-558E-09C1-CD961B584888}"/>
              </a:ext>
            </a:extLst>
          </p:cNvPr>
          <p:cNvSpPr txBox="1"/>
          <p:nvPr userDrawn="1"/>
        </p:nvSpPr>
        <p:spPr>
          <a:xfrm>
            <a:off x="755651" y="6354325"/>
            <a:ext cx="255205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sz="1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INFORMATICA INDUSTRIALE</a:t>
            </a:r>
          </a:p>
          <a:p>
            <a:pPr algn="ctr">
              <a:defRPr/>
            </a:pPr>
            <a:r>
              <a:rPr lang="en-US" sz="1200" b="1" dirty="0">
                <a:solidFill>
                  <a:srgbClr val="0000FF"/>
                </a:solidFill>
                <a:latin typeface="Comic Sans MS" panose="030F0702030302020204" pitchFamily="66" charset="0"/>
              </a:rPr>
              <a:t>email@unimib.it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8339A5-0ED6-D609-7369-31F0EB80C236}"/>
              </a:ext>
            </a:extLst>
          </p:cNvPr>
          <p:cNvSpPr txBox="1"/>
          <p:nvPr userDrawn="1"/>
        </p:nvSpPr>
        <p:spPr>
          <a:xfrm>
            <a:off x="5465930" y="6354325"/>
            <a:ext cx="609432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it-IT" altLang="en-US" sz="2000" b="1" dirty="0">
                <a:solidFill>
                  <a:srgbClr val="00B050"/>
                </a:solidFill>
                <a:latin typeface="Comic Sans MS" panose="030F0702030302020204" pitchFamily="66" charset="0"/>
              </a:rPr>
              <a:t>FPGA Design – Digital </a:t>
            </a:r>
            <a:r>
              <a:rPr lang="it-IT" altLang="en-US" sz="2000" b="1" dirty="0" err="1">
                <a:solidFill>
                  <a:srgbClr val="00B050"/>
                </a:solidFill>
                <a:latin typeface="Comic Sans MS" panose="030F0702030302020204" pitchFamily="66" charset="0"/>
              </a:rPr>
              <a:t>Signals</a:t>
            </a:r>
            <a:endParaRPr lang="en-GB" altLang="en-US" sz="2000" b="1" dirty="0">
              <a:solidFill>
                <a:srgbClr val="00B050"/>
              </a:solidFill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7282236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330875EF-C2EB-41B9-9120-4F34CB1DDB5F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00703208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56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1251" y="1333500"/>
            <a:ext cx="5232400" cy="46863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170ECB4-3ED6-47B4-92E1-16EDC40A6A2B}" type="slidenum">
              <a:rPr lang="en-US" altLang="en-US"/>
              <a:pPr/>
              <a:t>‹N›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8400324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6800" y="223200"/>
            <a:ext cx="7970400" cy="72000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A" dirty="0"/>
          </a:p>
        </p:txBody>
      </p:sp>
      <p:sp>
        <p:nvSpPr>
          <p:cNvPr id="4" name="Rectangle 7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A32AD43-E5B6-4C0C-B28F-4F3BDC35F92C}" type="slidenum">
              <a:rPr lang="en-US" altLang="en-US" smtClean="0"/>
              <a:pPr/>
              <a:t>‹N›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10586158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766233" y="222381"/>
            <a:ext cx="7971367" cy="720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55651" y="1333500"/>
            <a:ext cx="10668000" cy="43061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edit Master text styles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812800" y="989013"/>
            <a:ext cx="10610851" cy="109537"/>
          </a:xfrm>
          <a:custGeom>
            <a:avLst/>
            <a:gdLst>
              <a:gd name="T0" fmla="*/ 0 w 1000"/>
              <a:gd name="T1" fmla="*/ 0 h 1000"/>
              <a:gd name="T2" fmla="*/ 2147483647 w 1000"/>
              <a:gd name="T3" fmla="*/ 0 h 1000"/>
              <a:gd name="T4" fmla="*/ 2147483647 w 1000"/>
              <a:gd name="T5" fmla="*/ 2147483647 h 1000"/>
              <a:gd name="T6" fmla="*/ 0 w 1000"/>
              <a:gd name="T7" fmla="*/ 2147483647 h 1000"/>
              <a:gd name="T8" fmla="*/ 0 w 1000"/>
              <a:gd name="T9" fmla="*/ 0 h 1000"/>
              <a:gd name="T10" fmla="*/ 2147483647 w 1000"/>
              <a:gd name="T11" fmla="*/ 0 h 1000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1000" h="1000" stroke="0">
                <a:moveTo>
                  <a:pt x="0" y="0"/>
                </a:moveTo>
                <a:lnTo>
                  <a:pt x="585" y="0"/>
                </a:lnTo>
                <a:lnTo>
                  <a:pt x="585" y="1000"/>
                </a:lnTo>
                <a:lnTo>
                  <a:pt x="0" y="1000"/>
                </a:lnTo>
                <a:lnTo>
                  <a:pt x="0" y="0"/>
                </a:lnTo>
                <a:close/>
              </a:path>
              <a:path w="1000" h="1000">
                <a:moveTo>
                  <a:pt x="0" y="0"/>
                </a:moveTo>
                <a:lnTo>
                  <a:pt x="1000" y="0"/>
                </a:lnTo>
              </a:path>
            </a:pathLst>
          </a:custGeom>
          <a:solidFill>
            <a:schemeClr val="accent2"/>
          </a:solidFill>
          <a:ln w="9525">
            <a:solidFill>
              <a:schemeClr val="accent2"/>
            </a:solidFill>
            <a:round/>
            <a:headEnd/>
            <a:tailEnd/>
          </a:ln>
        </p:spPr>
        <p:txBody>
          <a:bodyPr/>
          <a:lstStyle/>
          <a:p>
            <a:endParaRPr lang="en-CA" sz="2000"/>
          </a:p>
        </p:txBody>
      </p:sp>
      <p:sp>
        <p:nvSpPr>
          <p:cNvPr id="1029" name="Line 5"/>
          <p:cNvSpPr>
            <a:spLocks noChangeShapeType="1"/>
          </p:cNvSpPr>
          <p:nvPr/>
        </p:nvSpPr>
        <p:spPr bwMode="auto">
          <a:xfrm flipV="1">
            <a:off x="812800" y="6309320"/>
            <a:ext cx="10566400" cy="0"/>
          </a:xfrm>
          <a:prstGeom prst="line">
            <a:avLst/>
          </a:prstGeom>
          <a:noFill/>
          <a:ln w="3175">
            <a:solidFill>
              <a:schemeClr val="accent2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CA" sz="2000"/>
          </a:p>
        </p:txBody>
      </p:sp>
      <p:sp>
        <p:nvSpPr>
          <p:cNvPr id="1363974" name="Rectangle 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128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r>
              <a:rPr lang="en-US" dirty="0"/>
              <a:t>Author</a:t>
            </a:r>
          </a:p>
        </p:txBody>
      </p:sp>
      <p:sp>
        <p:nvSpPr>
          <p:cNvPr id="1363975" name="Rectangle 7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373130"/>
            <a:ext cx="38608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buClrTx/>
              <a:buFontTx/>
              <a:buNone/>
              <a:defRPr sz="1200">
                <a:ea typeface="ＭＳ Ｐゴシック" pitchFamily="50" charset="-128"/>
                <a:cs typeface="+mn-cs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363976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373130"/>
            <a:ext cx="2641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669A0AA-7294-4E49-A360-EB85DE381848}" type="slidenum">
              <a:rPr lang="en-US" altLang="en-US"/>
              <a:pPr/>
              <a:t>‹N›</a:t>
            </a:fld>
            <a:r>
              <a:rPr lang="en-US" altLang="en-US" dirty="0"/>
              <a:t> of 70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086" r:id="rId1"/>
    <p:sldLayoutId id="2147484087" r:id="rId2"/>
    <p:sldLayoutId id="2147484079" r:id="rId3"/>
    <p:sldLayoutId id="2147484088" r:id="rId4"/>
    <p:sldLayoutId id="2147484080" r:id="rId5"/>
  </p:sldLayoutIdLst>
  <p:transition/>
  <p:hf hdr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0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800">
          <a:solidFill>
            <a:schemeClr val="tx2"/>
          </a:solidFill>
          <a:latin typeface="Verdana" pitchFamily="34" charset="0"/>
        </a:defRPr>
      </a:lvl9pPr>
    </p:titleStyle>
    <p:bodyStyle>
      <a:lvl1pPr marL="469900" indent="-4699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908050" indent="-436563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600">
          <a:solidFill>
            <a:schemeClr val="tx1"/>
          </a:solidFill>
          <a:latin typeface="+mn-lt"/>
        </a:defRPr>
      </a:lvl2pPr>
      <a:lvl3pPr marL="1304925" indent="-395288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o"/>
        <a:defRPr sz="2300">
          <a:solidFill>
            <a:schemeClr val="tx1"/>
          </a:solidFill>
          <a:latin typeface="+mn-lt"/>
        </a:defRPr>
      </a:lvl3pPr>
      <a:lvl4pPr marL="1693863" indent="-3873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</a:defRPr>
      </a:lvl4pPr>
      <a:lvl5pPr marL="2093913" indent="-398463" algn="l" rtl="0" eaLnBrk="0" fontAlgn="base" hangingPunct="0">
        <a:spcBef>
          <a:spcPct val="25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</a:defRPr>
      </a:lvl5pPr>
      <a:lvl6pPr marL="25511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6pPr>
      <a:lvl7pPr marL="30083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7pPr>
      <a:lvl8pPr marL="34655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8pPr>
      <a:lvl9pPr marL="3922713" indent="-398463" algn="l" rtl="0" fontAlgn="base">
        <a:spcBef>
          <a:spcPct val="25000"/>
        </a:spcBef>
        <a:spcAft>
          <a:spcPct val="0"/>
        </a:spcAft>
        <a:buClr>
          <a:schemeClr val="accent2"/>
        </a:buClr>
        <a:buFont typeface="Wingdings" pitchFamily="2" charset="2"/>
        <a:buChar char="§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C030536-D6A3-FCE3-120C-737C116148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399" y="1583795"/>
            <a:ext cx="10537195" cy="1371600"/>
          </a:xfrm>
        </p:spPr>
        <p:txBody>
          <a:bodyPr/>
          <a:lstStyle/>
          <a:p>
            <a:br>
              <a:rPr lang="en-GB" altLang="en-US" sz="2400" b="1" dirty="0"/>
            </a:br>
            <a:r>
              <a:rPr lang="en-GB" altLang="en-US" sz="2400" b="1" dirty="0"/>
              <a:t>El Hanafi Nadim 894489</a:t>
            </a:r>
            <a:endParaRPr lang="en-GB" altLang="en-US" sz="2400" dirty="0"/>
          </a:p>
        </p:txBody>
      </p:sp>
      <p:pic>
        <p:nvPicPr>
          <p:cNvPr id="9" name="Picture 8" descr="A picture containing art, graphics, line, triangle&#10;&#10;Description automatically generated">
            <a:extLst>
              <a:ext uri="{FF2B5EF4-FFF2-40B4-BE49-F238E27FC236}">
                <a16:creationId xmlns:a16="http://schemas.microsoft.com/office/drawing/2014/main" id="{248F0F6B-6FF7-0BDC-4633-8BF6DF0E1A8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26470" y="4914165"/>
            <a:ext cx="1440160" cy="1553377"/>
          </a:xfrm>
          <a:prstGeom prst="rect">
            <a:avLst/>
          </a:prstGeom>
        </p:spPr>
      </p:pic>
      <p:sp>
        <p:nvSpPr>
          <p:cNvPr id="3" name="Subtitle 7">
            <a:extLst>
              <a:ext uri="{FF2B5EF4-FFF2-40B4-BE49-F238E27FC236}">
                <a16:creationId xmlns:a16="http://schemas.microsoft.com/office/drawing/2014/main" id="{4501EFC6-D762-8243-D017-B6D989F073E7}"/>
              </a:ext>
            </a:extLst>
          </p:cNvPr>
          <p:cNvSpPr txBox="1">
            <a:spLocks/>
          </p:cNvSpPr>
          <p:nvPr/>
        </p:nvSpPr>
        <p:spPr bwMode="auto">
          <a:xfrm>
            <a:off x="920426" y="2901533"/>
            <a:ext cx="10891209" cy="4061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altLang="en-US" sz="2000" kern="0" dirty="0"/>
              <a:t>Informatica Industriale</a:t>
            </a:r>
            <a:endParaRPr lang="en-US" sz="2600" kern="0" dirty="0"/>
          </a:p>
        </p:txBody>
      </p:sp>
      <p:pic>
        <p:nvPicPr>
          <p:cNvPr id="4" name="Picture 3" descr="A logo with a gold and blue text&#10;&#10;Description automatically generated with medium confidence">
            <a:extLst>
              <a:ext uri="{FF2B5EF4-FFF2-40B4-BE49-F238E27FC236}">
                <a16:creationId xmlns:a16="http://schemas.microsoft.com/office/drawing/2014/main" id="{140A5226-4D66-DB39-6D5D-E593DD2B678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197" y="5010689"/>
            <a:ext cx="2017820" cy="1360328"/>
          </a:xfrm>
          <a:prstGeom prst="rect">
            <a:avLst/>
          </a:prstGeom>
        </p:spPr>
      </p:pic>
      <p:sp>
        <p:nvSpPr>
          <p:cNvPr id="5" name="Subtitle 7">
            <a:extLst>
              <a:ext uri="{FF2B5EF4-FFF2-40B4-BE49-F238E27FC236}">
                <a16:creationId xmlns:a16="http://schemas.microsoft.com/office/drawing/2014/main" id="{7FEB1B2F-A930-2425-989C-37A3A776ED3F}"/>
              </a:ext>
            </a:extLst>
          </p:cNvPr>
          <p:cNvSpPr txBox="1">
            <a:spLocks/>
          </p:cNvSpPr>
          <p:nvPr/>
        </p:nvSpPr>
        <p:spPr bwMode="auto">
          <a:xfrm>
            <a:off x="920426" y="5010689"/>
            <a:ext cx="10891209" cy="398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None/>
              <a:defRPr sz="2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08050" indent="-436563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600">
                <a:solidFill>
                  <a:schemeClr val="tx1"/>
                </a:solidFill>
                <a:latin typeface="+mn-lt"/>
              </a:defRPr>
            </a:lvl2pPr>
            <a:lvl3pPr marL="1304925" indent="-395288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o"/>
              <a:defRPr sz="2300">
                <a:solidFill>
                  <a:schemeClr val="tx1"/>
                </a:solidFill>
                <a:latin typeface="+mn-lt"/>
              </a:defRPr>
            </a:lvl3pPr>
            <a:lvl4pPr marL="1693863" indent="-3873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+mn-lt"/>
              </a:defRPr>
            </a:lvl4pPr>
            <a:lvl5pPr marL="2093913" indent="-398463" algn="l" rtl="0" eaLnBrk="0" fontAlgn="base" hangingPunct="0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5pPr>
            <a:lvl6pPr marL="25511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6pPr>
            <a:lvl7pPr marL="30083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7pPr>
            <a:lvl8pPr marL="34655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8pPr>
            <a:lvl9pPr marL="3922713" indent="-398463" algn="l" rtl="0" fontAlgn="base">
              <a:spcBef>
                <a:spcPct val="25000"/>
              </a:spcBef>
              <a:spcAft>
                <a:spcPct val="0"/>
              </a:spcAft>
              <a:buClr>
                <a:schemeClr val="accent2"/>
              </a:buClr>
              <a:buFont typeface="Wingdings" pitchFamily="2" charset="2"/>
              <a:buChar char="§"/>
              <a:defRPr sz="2000">
                <a:solidFill>
                  <a:schemeClr val="tx1"/>
                </a:solidFill>
                <a:latin typeface="+mn-lt"/>
              </a:defRPr>
            </a:lvl9pPr>
          </a:lstStyle>
          <a:p>
            <a:r>
              <a:rPr lang="it-IT" sz="1500" b="1" i="0" u="none" strike="noStrike" baseline="0" dirty="0">
                <a:solidFill>
                  <a:srgbClr val="0000FF"/>
                </a:solidFill>
                <a:latin typeface="NimbusRomNo9L-Regu"/>
              </a:rPr>
              <a:t>n.elhanafi@campus.unimib.it</a:t>
            </a:r>
          </a:p>
          <a:p>
            <a:pPr algn="ctr"/>
            <a:endParaRPr lang="it-IT" sz="1500" b="0" i="0" u="none" strike="noStrike" baseline="0" dirty="0">
              <a:latin typeface="NimbusRomNo9L-Regu"/>
            </a:endParaRPr>
          </a:p>
          <a:p>
            <a:r>
              <a:rPr lang="it-IT" sz="1500" b="0" i="0" u="none" strike="noStrike" baseline="0" dirty="0" err="1">
                <a:latin typeface="NimbusRomNo9L-Regu"/>
              </a:rPr>
              <a:t>Microelectronics</a:t>
            </a:r>
            <a:r>
              <a:rPr lang="it-IT" sz="1500" b="0" i="0" u="none" strike="noStrike" baseline="0" dirty="0">
                <a:latin typeface="NimbusRomNo9L-Regu"/>
              </a:rPr>
              <a:t> Group</a:t>
            </a:r>
            <a:br>
              <a:rPr lang="pl-PL" altLang="en-US" sz="1500" kern="0" dirty="0"/>
            </a:br>
            <a:endParaRPr lang="en-US" sz="1500" kern="0" dirty="0"/>
          </a:p>
        </p:txBody>
      </p:sp>
      <p:pic>
        <p:nvPicPr>
          <p:cNvPr id="6" name="Picture 5" descr="A blue circuit board with black background&#10;&#10;AI-generated content may be incorrect.">
            <a:extLst>
              <a:ext uri="{FF2B5EF4-FFF2-40B4-BE49-F238E27FC236}">
                <a16:creationId xmlns:a16="http://schemas.microsoft.com/office/drawing/2014/main" id="{1CFD4DE1-0AC0-CE25-563B-C4BB22276B4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2625" y="64349"/>
            <a:ext cx="3975037" cy="3975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379926"/>
      </p:ext>
    </p:extLst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84E872-B632-BC3D-08D6-A564B0EC8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75B7-7E34-3DB2-2A65-301C39B84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/>
              <a:t>Introduction</a:t>
            </a:r>
            <a:r>
              <a:rPr lang="it-IT" dirty="0"/>
              <a:t> - </a:t>
            </a:r>
            <a:r>
              <a:rPr lang="it-IT" dirty="0" err="1"/>
              <a:t>filter_ma</a:t>
            </a:r>
            <a:r>
              <a:rPr lang="it-IT" dirty="0"/>
              <a:t> Architecture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A6D18-756C-142E-58F2-A4C95082111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graphicFrame>
        <p:nvGraphicFramePr>
          <p:cNvPr id="23" name="Table 28">
            <a:extLst>
              <a:ext uri="{FF2B5EF4-FFF2-40B4-BE49-F238E27FC236}">
                <a16:creationId xmlns:a16="http://schemas.microsoft.com/office/drawing/2014/main" id="{423B76B6-1626-1387-EA88-FF9B46F16E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8491242"/>
              </p:ext>
            </p:extLst>
          </p:nvPr>
        </p:nvGraphicFramePr>
        <p:xfrm>
          <a:off x="1112520" y="3759327"/>
          <a:ext cx="9966960" cy="181540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02567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Port / Generic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Width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generic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integer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Number of bits  (Nb = 8)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log2NFIFOf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generic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integer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log₂(NFIFO)  ∈ {5, 6, 7}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en / rst / clk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 bit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Enable, Reset active-low, Clock 50 MHz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in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 bits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Input sample (signed)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2567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out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Nbf + log2NFIFOf bits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Filtered output (signed)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" name="TextBox 30">
            <a:extLst>
              <a:ext uri="{FF2B5EF4-FFF2-40B4-BE49-F238E27FC236}">
                <a16:creationId xmlns:a16="http://schemas.microsoft.com/office/drawing/2014/main" id="{234D535A-A4C8-21CD-D514-50CB0AF3427B}"/>
              </a:ext>
            </a:extLst>
          </p:cNvPr>
          <p:cNvSpPr txBox="1"/>
          <p:nvPr/>
        </p:nvSpPr>
        <p:spPr>
          <a:xfrm>
            <a:off x="2499770" y="5574731"/>
            <a:ext cx="678563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latin typeface="Calibri"/>
              </a:rPr>
              <a:t>Nb=8    fs=50 MHz   </a:t>
            </a:r>
            <a:r>
              <a:rPr lang="it-IT" sz="1400" b="0" i="0" dirty="0">
                <a:latin typeface="Calibri"/>
              </a:rPr>
              <a:t> </a:t>
            </a:r>
            <a:r>
              <a:rPr sz="1400" b="0" i="0" dirty="0" err="1">
                <a:latin typeface="Calibri"/>
              </a:rPr>
              <a:t>tclk</a:t>
            </a:r>
            <a:r>
              <a:rPr sz="1400" b="0" i="0" dirty="0">
                <a:latin typeface="Calibri"/>
              </a:rPr>
              <a:t>=20 ns    f₀=195.3 kHz    OVR=128    </a:t>
            </a:r>
            <a:r>
              <a:rPr sz="1400" b="0" i="0" dirty="0" err="1">
                <a:latin typeface="Calibri"/>
              </a:rPr>
              <a:t>SNR_input</a:t>
            </a:r>
            <a:r>
              <a:rPr sz="1400" b="0" i="0" dirty="0">
                <a:latin typeface="Calibri"/>
              </a:rPr>
              <a:t>=0 dB    FS=256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BC0725A-8AB2-E640-A1F4-B78D22B277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" y="1273305"/>
            <a:ext cx="9966960" cy="242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49146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53D04-0B2E-1C35-7624-681F89C8C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16734-5706-496E-5A91-A365ED890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410" y="222381"/>
            <a:ext cx="11406589" cy="720596"/>
          </a:xfrm>
        </p:spPr>
        <p:txBody>
          <a:bodyPr/>
          <a:lstStyle/>
          <a:p>
            <a:r>
              <a:rPr lang="it-IT" dirty="0" err="1">
                <a:latin typeface="Calibri"/>
              </a:rPr>
              <a:t>Multiadder</a:t>
            </a:r>
            <a:r>
              <a:rPr lang="it-IT" dirty="0">
                <a:latin typeface="Calibri"/>
              </a:rPr>
              <a:t> - 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C1EECD-9CAB-A2F0-6F34-B068A3734B9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E442AA-AD93-3C3F-2C0D-F8DD3D560D8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A2D0912A-7795-8F30-15C8-A9699CE54B29}"/>
              </a:ext>
            </a:extLst>
          </p:cNvPr>
          <p:cNvSpPr/>
          <p:nvPr/>
        </p:nvSpPr>
        <p:spPr>
          <a:xfrm>
            <a:off x="827862" y="1188720"/>
            <a:ext cx="5068164" cy="4700016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66B30901-6303-F983-CE9B-0C20CDF7C578}"/>
              </a:ext>
            </a:extLst>
          </p:cNvPr>
          <p:cNvSpPr txBox="1"/>
          <p:nvPr/>
        </p:nvSpPr>
        <p:spPr>
          <a:xfrm>
            <a:off x="848538" y="1243584"/>
            <a:ext cx="2925801" cy="36625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in  signed(Nb-1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dataout_accumulator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in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 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architecture Behavioral of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multiadder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signal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
   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:
  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signal mask0:
    signed(log2NFIFO-1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:= (others =&gt; '0');
begin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&lt;= mask0 &amp;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mask0 &amp;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dataout_accumulator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
    -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
    +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datain_fifo_large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end Behavioral;</a:t>
            </a:r>
          </a:p>
        </p:txBody>
      </p:sp>
      <p:sp>
        <p:nvSpPr>
          <p:cNvPr id="24" name="Rectangle 5">
            <a:extLst>
              <a:ext uri="{FF2B5EF4-FFF2-40B4-BE49-F238E27FC236}">
                <a16:creationId xmlns:a16="http://schemas.microsoft.com/office/drawing/2014/main" id="{2D4CDD3A-A228-DCA5-53CF-11820A0C2190}"/>
              </a:ext>
            </a:extLst>
          </p:cNvPr>
          <p:cNvSpPr/>
          <p:nvPr/>
        </p:nvSpPr>
        <p:spPr>
          <a:xfrm>
            <a:off x="6033186" y="1188720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6">
            <a:extLst>
              <a:ext uri="{FF2B5EF4-FFF2-40B4-BE49-F238E27FC236}">
                <a16:creationId xmlns:a16="http://schemas.microsoft.com/office/drawing/2014/main" id="{154B5AF6-A649-3B0C-0251-BFF7ADEFEAFF}"/>
              </a:ext>
            </a:extLst>
          </p:cNvPr>
          <p:cNvSpPr/>
          <p:nvPr/>
        </p:nvSpPr>
        <p:spPr>
          <a:xfrm>
            <a:off x="6033186" y="1188720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F9027339-BB73-25B2-3134-8E4530949CFD}"/>
              </a:ext>
            </a:extLst>
          </p:cNvPr>
          <p:cNvSpPr txBox="1"/>
          <p:nvPr/>
        </p:nvSpPr>
        <p:spPr>
          <a:xfrm>
            <a:off x="6142914" y="1234440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Formula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Recursive MA Update</a:t>
            </a: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A69EA714-0FB0-09D9-3509-4761F056E13E}"/>
              </a:ext>
            </a:extLst>
          </p:cNvPr>
          <p:cNvSpPr txBox="1"/>
          <p:nvPr/>
        </p:nvSpPr>
        <p:spPr>
          <a:xfrm>
            <a:off x="6142914" y="1591056"/>
            <a:ext cx="522122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yₙ = yₙ₋₁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dₙ₋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ₙFIFO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+ dₙ
Instead of summing NFIFO samples each cycle, only the oldest sample is subtracted and the newest added. O(1) complexity per clock cycle.</a:t>
            </a:r>
          </a:p>
        </p:txBody>
      </p:sp>
      <p:sp>
        <p:nvSpPr>
          <p:cNvPr id="28" name="Rectangle 9">
            <a:extLst>
              <a:ext uri="{FF2B5EF4-FFF2-40B4-BE49-F238E27FC236}">
                <a16:creationId xmlns:a16="http://schemas.microsoft.com/office/drawing/2014/main" id="{484BF14C-DEAB-8594-E556-8D33774B2E35}"/>
              </a:ext>
            </a:extLst>
          </p:cNvPr>
          <p:cNvSpPr/>
          <p:nvPr/>
        </p:nvSpPr>
        <p:spPr>
          <a:xfrm>
            <a:off x="6033186" y="2791968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CC5AB0F7-DF04-4008-0E71-4B306054224A}"/>
              </a:ext>
            </a:extLst>
          </p:cNvPr>
          <p:cNvSpPr/>
          <p:nvPr/>
        </p:nvSpPr>
        <p:spPr>
          <a:xfrm>
            <a:off x="6033186" y="2791968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11">
            <a:extLst>
              <a:ext uri="{FF2B5EF4-FFF2-40B4-BE49-F238E27FC236}">
                <a16:creationId xmlns:a16="http://schemas.microsoft.com/office/drawing/2014/main" id="{56CF0A10-82C8-4E5A-7A3E-74977ACF0FE5}"/>
              </a:ext>
            </a:extLst>
          </p:cNvPr>
          <p:cNvSpPr txBox="1"/>
          <p:nvPr/>
        </p:nvSpPr>
        <p:spPr>
          <a:xfrm>
            <a:off x="6142914" y="2837688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Signal Widths</a:t>
            </a:r>
          </a:p>
        </p:txBody>
      </p:sp>
      <p:sp>
        <p:nvSpPr>
          <p:cNvPr id="31" name="TextBox 12">
            <a:extLst>
              <a:ext uri="{FF2B5EF4-FFF2-40B4-BE49-F238E27FC236}">
                <a16:creationId xmlns:a16="http://schemas.microsoft.com/office/drawing/2014/main" id="{8EFFDE39-E702-C118-3583-AEA71E0BA2A1}"/>
              </a:ext>
            </a:extLst>
          </p:cNvPr>
          <p:cNvSpPr txBox="1"/>
          <p:nvPr/>
        </p:nvSpPr>
        <p:spPr>
          <a:xfrm>
            <a:off x="6142914" y="3194304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datain_fifo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/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dataout_fifo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:  Nb = 8 bit
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dataout_accumulator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(yₙ₋₁):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Nb+log₂NFIFO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bits
•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(yₙ):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Nb+log₂NFIFO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bits
Inputs UNSIGNED → zero-extension via mask0 (no sign error).</a:t>
            </a:r>
          </a:p>
        </p:txBody>
      </p:sp>
      <p:sp>
        <p:nvSpPr>
          <p:cNvPr id="32" name="Rectangle 13">
            <a:extLst>
              <a:ext uri="{FF2B5EF4-FFF2-40B4-BE49-F238E27FC236}">
                <a16:creationId xmlns:a16="http://schemas.microsoft.com/office/drawing/2014/main" id="{517A1EC9-5DE4-15B0-35AB-863B849FED9A}"/>
              </a:ext>
            </a:extLst>
          </p:cNvPr>
          <p:cNvSpPr/>
          <p:nvPr/>
        </p:nvSpPr>
        <p:spPr>
          <a:xfrm>
            <a:off x="6033186" y="4395216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4D0E48EA-7D86-21E0-97BF-908EF7D56E3D}"/>
              </a:ext>
            </a:extLst>
          </p:cNvPr>
          <p:cNvSpPr/>
          <p:nvPr/>
        </p:nvSpPr>
        <p:spPr>
          <a:xfrm>
            <a:off x="6033186" y="4395216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15">
            <a:extLst>
              <a:ext uri="{FF2B5EF4-FFF2-40B4-BE49-F238E27FC236}">
                <a16:creationId xmlns:a16="http://schemas.microsoft.com/office/drawing/2014/main" id="{811B829C-307E-70B2-FAD2-4A90DE790DDA}"/>
              </a:ext>
            </a:extLst>
          </p:cNvPr>
          <p:cNvSpPr txBox="1"/>
          <p:nvPr/>
        </p:nvSpPr>
        <p:spPr>
          <a:xfrm>
            <a:off x="6142914" y="4440936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Key Implementation Note</a:t>
            </a:r>
          </a:p>
        </p:txBody>
      </p:sp>
      <p:sp>
        <p:nvSpPr>
          <p:cNvPr id="35" name="TextBox 16">
            <a:extLst>
              <a:ext uri="{FF2B5EF4-FFF2-40B4-BE49-F238E27FC236}">
                <a16:creationId xmlns:a16="http://schemas.microsoft.com/office/drawing/2014/main" id="{F4A3C7F7-CC42-27B9-4DA8-9ABBA6923E60}"/>
              </a:ext>
            </a:extLst>
          </p:cNvPr>
          <p:cNvSpPr txBox="1"/>
          <p:nvPr/>
        </p:nvSpPr>
        <p:spPr>
          <a:xfrm>
            <a:off x="6142914" y="4797552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Samples are unsigned (0…255). Upper log₂NFIFO bits padded with '0' using mask0 concatenation. Using signed arithmetic avoids overflow and simplifies accumulator feedback.</a:t>
            </a:r>
          </a:p>
        </p:txBody>
      </p:sp>
    </p:spTree>
    <p:extLst>
      <p:ext uri="{BB962C8B-B14F-4D97-AF65-F5344CB8AC3E}">
        <p14:creationId xmlns:p14="http://schemas.microsoft.com/office/powerpoint/2010/main" val="1879734301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5D46E-BB9E-7232-5BD7-5923BA26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7F9A3-73D2-EFB3-CA30-059CCAEB75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 err="1">
                <a:latin typeface="Calibri"/>
              </a:rPr>
              <a:t>Multiadder</a:t>
            </a:r>
            <a:r>
              <a:rPr lang="it-IT" dirty="0">
                <a:latin typeface="Calibri"/>
              </a:rPr>
              <a:t> - </a:t>
            </a:r>
            <a:r>
              <a:rPr lang="it-IT" dirty="0" err="1">
                <a:latin typeface="Calibri"/>
              </a:rPr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9074A0-907E-DA25-6D45-CFE030B434B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98E95DE0-F01F-94C2-3F95-06FD42EC24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5247857"/>
              </p:ext>
            </p:extLst>
          </p:nvPr>
        </p:nvGraphicFramePr>
        <p:xfrm>
          <a:off x="817248" y="1298449"/>
          <a:ext cx="10561951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15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733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5661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 (dec)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Binary (14 bit)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datain_fifo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00000000000001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dₙ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current sample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dataout_fifo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00000000001111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dₙ₋ₙFIFO </a:t>
                      </a:r>
                      <a:r>
                        <a:rPr lang="it-IT" sz="1000" dirty="0">
                          <a:latin typeface="Calibri"/>
                        </a:rPr>
                        <a:t>- </a:t>
                      </a:r>
                      <a:r>
                        <a:rPr sz="1000" dirty="0">
                          <a:latin typeface="Calibri"/>
                        </a:rPr>
                        <a:t>oldest sample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dataout_accumulator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16383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11111111111111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yₙ₋₁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running sum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r>
                        <a:rPr sz="1000" b="0">
                          <a:latin typeface="Calibri"/>
                        </a:rPr>
                        <a:t>dataout (expected)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16369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11111111110001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yₙ = 16383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15 + 1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6" name="Rectangle 6">
            <a:extLst>
              <a:ext uri="{FF2B5EF4-FFF2-40B4-BE49-F238E27FC236}">
                <a16:creationId xmlns:a16="http://schemas.microsoft.com/office/drawing/2014/main" id="{93888F4A-0C6E-8BF5-F05D-A6C922F84899}"/>
              </a:ext>
            </a:extLst>
          </p:cNvPr>
          <p:cNvSpPr/>
          <p:nvPr/>
        </p:nvSpPr>
        <p:spPr>
          <a:xfrm>
            <a:off x="766232" y="3081529"/>
            <a:ext cx="10612968" cy="2807207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B72F281-0DB1-E004-FB24-047227815A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1" y="3203975"/>
            <a:ext cx="10396154" cy="256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4630518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4B077-4232-9595-FE49-8BBEE221C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ABBF-2A42-446F-AE01-02AF42A62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>
                <a:latin typeface="Calibri"/>
              </a:rPr>
              <a:t>Accumulator - Design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7AE350-9370-4C23-FAE2-9A12B442B3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87B57244-EDB8-832F-F265-5E0E852EE529}"/>
              </a:ext>
            </a:extLst>
          </p:cNvPr>
          <p:cNvSpPr/>
          <p:nvPr/>
        </p:nvSpPr>
        <p:spPr>
          <a:xfrm>
            <a:off x="868680" y="1234440"/>
            <a:ext cx="5047488" cy="4681728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4">
            <a:extLst>
              <a:ext uri="{FF2B5EF4-FFF2-40B4-BE49-F238E27FC236}">
                <a16:creationId xmlns:a16="http://schemas.microsoft.com/office/drawing/2014/main" id="{0EB53967-969C-A34D-E144-5D1FDE4C6B66}"/>
              </a:ext>
            </a:extLst>
          </p:cNvPr>
          <p:cNvSpPr txBox="1"/>
          <p:nvPr/>
        </p:nvSpPr>
        <p:spPr>
          <a:xfrm>
            <a:off x="868680" y="1289304"/>
            <a:ext cx="4974336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accumulator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std_logic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: in  signed(Nb+log2NFIFO</a:t>
            </a:r>
            <a:r>
              <a:rPr lang="it-IT" sz="800" dirty="0">
                <a:solidFill>
                  <a:srgbClr val="000000"/>
                </a:solidFill>
                <a:latin typeface="Courier New"/>
              </a:rPr>
              <a:t>-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accumulator;
architecture Behavioral of accumulator is
  signal reg : signed(Nb+log2NFIFO</a:t>
            </a:r>
            <a:r>
              <a:rPr lang="it-IT" sz="800" dirty="0">
                <a:solidFill>
                  <a:srgbClr val="000000"/>
                </a:solidFill>
                <a:latin typeface="Courier New"/>
              </a:rPr>
              <a:t>-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         := (others =&gt; '0');
begin
  process(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
  begin
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rising_edge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 then
  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'0' then
        reg &lt;= (others =&gt; '0'); 
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elsif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'1' then
        reg &lt;=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         
      end if;
    end if;
  end process;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reg;  
end Behavioral;</a:t>
            </a:r>
          </a:p>
        </p:txBody>
      </p:sp>
      <p:sp>
        <p:nvSpPr>
          <p:cNvPr id="26" name="Rectangle 5">
            <a:extLst>
              <a:ext uri="{FF2B5EF4-FFF2-40B4-BE49-F238E27FC236}">
                <a16:creationId xmlns:a16="http://schemas.microsoft.com/office/drawing/2014/main" id="{66CB4713-E7A7-E31B-2C21-AF135B8BF4B1}"/>
              </a:ext>
            </a:extLst>
          </p:cNvPr>
          <p:cNvSpPr/>
          <p:nvPr/>
        </p:nvSpPr>
        <p:spPr>
          <a:xfrm>
            <a:off x="6053328" y="1234440"/>
            <a:ext cx="5440680" cy="228600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6">
            <a:extLst>
              <a:ext uri="{FF2B5EF4-FFF2-40B4-BE49-F238E27FC236}">
                <a16:creationId xmlns:a16="http://schemas.microsoft.com/office/drawing/2014/main" id="{53F9CDD1-490C-402F-47F0-D9F9AD9E5A32}"/>
              </a:ext>
            </a:extLst>
          </p:cNvPr>
          <p:cNvSpPr/>
          <p:nvPr/>
        </p:nvSpPr>
        <p:spPr>
          <a:xfrm>
            <a:off x="6053328" y="1234440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7">
            <a:extLst>
              <a:ext uri="{FF2B5EF4-FFF2-40B4-BE49-F238E27FC236}">
                <a16:creationId xmlns:a16="http://schemas.microsoft.com/office/drawing/2014/main" id="{A34A0199-EB8A-3FE0-1FD4-6E6EAC57961F}"/>
              </a:ext>
            </a:extLst>
          </p:cNvPr>
          <p:cNvSpPr txBox="1"/>
          <p:nvPr/>
        </p:nvSpPr>
        <p:spPr>
          <a:xfrm>
            <a:off x="6163056" y="1280160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Function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PIPO Register</a:t>
            </a:r>
          </a:p>
        </p:txBody>
      </p:sp>
      <p:sp>
        <p:nvSpPr>
          <p:cNvPr id="29" name="TextBox 8">
            <a:extLst>
              <a:ext uri="{FF2B5EF4-FFF2-40B4-BE49-F238E27FC236}">
                <a16:creationId xmlns:a16="http://schemas.microsoft.com/office/drawing/2014/main" id="{E35DC332-4214-AB3D-E7BD-51AA4DF088A0}"/>
              </a:ext>
            </a:extLst>
          </p:cNvPr>
          <p:cNvSpPr txBox="1"/>
          <p:nvPr/>
        </p:nvSpPr>
        <p:spPr>
          <a:xfrm>
            <a:off x="6163056" y="1636776"/>
            <a:ext cx="52212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0000"/>
                </a:solidFill>
                <a:latin typeface="Calibri"/>
              </a:rPr>
              <a:t>Synchronous Parallel-In Parallel-Out register.
• Stores yₙ on every rising clock edge (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en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='1')
• Output is yₙ₋₁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the running sum one cycle earlier
• Feeds back to the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Multiadder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input</a:t>
            </a:r>
          </a:p>
        </p:txBody>
      </p:sp>
      <p:sp>
        <p:nvSpPr>
          <p:cNvPr id="30" name="Rectangle 9">
            <a:extLst>
              <a:ext uri="{FF2B5EF4-FFF2-40B4-BE49-F238E27FC236}">
                <a16:creationId xmlns:a16="http://schemas.microsoft.com/office/drawing/2014/main" id="{8A554585-7659-8606-0786-A66D0BC8FD30}"/>
              </a:ext>
            </a:extLst>
          </p:cNvPr>
          <p:cNvSpPr/>
          <p:nvPr/>
        </p:nvSpPr>
        <p:spPr>
          <a:xfrm>
            <a:off x="6053328" y="3630168"/>
            <a:ext cx="5440680" cy="228600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12023F39-12C2-5993-ACD0-FA642161EA58}"/>
              </a:ext>
            </a:extLst>
          </p:cNvPr>
          <p:cNvSpPr/>
          <p:nvPr/>
        </p:nvSpPr>
        <p:spPr>
          <a:xfrm>
            <a:off x="6053328" y="3630168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11">
            <a:extLst>
              <a:ext uri="{FF2B5EF4-FFF2-40B4-BE49-F238E27FC236}">
                <a16:creationId xmlns:a16="http://schemas.microsoft.com/office/drawing/2014/main" id="{3AD370D1-F0CA-94A0-97BF-E78A37175193}"/>
              </a:ext>
            </a:extLst>
          </p:cNvPr>
          <p:cNvSpPr txBox="1"/>
          <p:nvPr/>
        </p:nvSpPr>
        <p:spPr>
          <a:xfrm>
            <a:off x="6163056" y="3675888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Reset &amp; Width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23F3A75-77A4-83E4-D658-1161E2E088A6}"/>
              </a:ext>
            </a:extLst>
          </p:cNvPr>
          <p:cNvSpPr txBox="1"/>
          <p:nvPr/>
        </p:nvSpPr>
        <p:spPr>
          <a:xfrm>
            <a:off x="6163056" y="4032504"/>
            <a:ext cx="5221224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rst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='0' → synchronous active-low clear (reg ← 0)
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rst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='1' → normal operation
Width = Nb +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log₂NFIFO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14 bit for NFIFO=64
Max value = NFIFO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x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255 = 16320  →  fits in 14 bit </a:t>
            </a:r>
          </a:p>
        </p:txBody>
      </p:sp>
    </p:spTree>
    <p:extLst>
      <p:ext uri="{BB962C8B-B14F-4D97-AF65-F5344CB8AC3E}">
        <p14:creationId xmlns:p14="http://schemas.microsoft.com/office/powerpoint/2010/main" val="2207269896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73D69C-D379-957B-2ED6-E28E2A0F7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52310-2236-8240-C1E9-B0F972BD6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32" y="222381"/>
            <a:ext cx="11425767" cy="720596"/>
          </a:xfrm>
        </p:spPr>
        <p:txBody>
          <a:bodyPr/>
          <a:lstStyle/>
          <a:p>
            <a:r>
              <a:rPr lang="it-IT" dirty="0">
                <a:latin typeface="Calibri"/>
              </a:rPr>
              <a:t>Accumulator - </a:t>
            </a:r>
            <a:r>
              <a:rPr lang="it-IT" dirty="0" err="1">
                <a:latin typeface="Calibri"/>
              </a:rPr>
              <a:t>Testbench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A4ABE0-8915-165B-E76A-381650997AE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E6AEE32-87CF-4B18-ACD9-DC92317905A5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graphicFrame>
        <p:nvGraphicFramePr>
          <p:cNvPr id="9" name="Table 3">
            <a:extLst>
              <a:ext uri="{FF2B5EF4-FFF2-40B4-BE49-F238E27FC236}">
                <a16:creationId xmlns:a16="http://schemas.microsoft.com/office/drawing/2014/main" id="{D7459B62-2635-4DD4-EA09-BE6084F2F2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933322"/>
              </p:ext>
            </p:extLst>
          </p:nvPr>
        </p:nvGraphicFramePr>
        <p:xfrm>
          <a:off x="766232" y="1538790"/>
          <a:ext cx="10709488" cy="11589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15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128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11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3569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datains (constant)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dataouts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 </a:t>
                      </a:r>
                      <a:r>
                        <a:rPr lang="it-IT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–</a:t>
                      </a:r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 expected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561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t &lt; 30 ns  (en='0')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3276  ("00110011001100")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0 </a:t>
                      </a:r>
                      <a:r>
                        <a:rPr lang="it-IT" sz="1000" dirty="0">
                          <a:latin typeface="Calibri"/>
                        </a:rPr>
                        <a:t>-</a:t>
                      </a:r>
                      <a:r>
                        <a:rPr sz="1000" dirty="0">
                          <a:latin typeface="Calibri"/>
                        </a:rPr>
                        <a:t> register not loaded yet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561"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t ≥ ~40 ns  (</a:t>
                      </a:r>
                      <a:r>
                        <a:rPr sz="1000" b="0" dirty="0" err="1">
                          <a:latin typeface="Calibri"/>
                        </a:rPr>
                        <a:t>en</a:t>
                      </a:r>
                      <a:r>
                        <a:rPr sz="1000" b="0" dirty="0">
                          <a:latin typeface="Calibri"/>
                        </a:rPr>
                        <a:t>='1')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3276  ("00110011001100")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3276 </a:t>
                      </a:r>
                      <a:r>
                        <a:rPr lang="it-IT"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-</a:t>
                      </a:r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 PIPO register latches input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5" name="Rectangle 5">
            <a:extLst>
              <a:ext uri="{FF2B5EF4-FFF2-40B4-BE49-F238E27FC236}">
                <a16:creationId xmlns:a16="http://schemas.microsoft.com/office/drawing/2014/main" id="{0636729B-C0E1-A89C-E93F-D7ABDB3A807D}"/>
              </a:ext>
            </a:extLst>
          </p:cNvPr>
          <p:cNvSpPr/>
          <p:nvPr/>
        </p:nvSpPr>
        <p:spPr>
          <a:xfrm>
            <a:off x="766232" y="2697752"/>
            <a:ext cx="10709488" cy="3181839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FC6DD40-175F-B296-E58A-C2A7AC1048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0" y="2833742"/>
            <a:ext cx="10503779" cy="290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750678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Calibri"/>
              </a:rPr>
              <a:t>divide_by</a:t>
            </a:r>
            <a:r>
              <a:rPr dirty="0">
                <a:latin typeface="Calibri"/>
              </a:rPr>
              <a:t>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766454" y="1206946"/>
            <a:ext cx="5120640" cy="4700016"/>
          </a:xfrm>
          <a:prstGeom prst="rect">
            <a:avLst/>
          </a:prstGeom>
          <a:solidFill>
            <a:srgbClr val="F0F2F4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39606" y="1261810"/>
            <a:ext cx="3291286" cy="36625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dirty="0">
                <a:solidFill>
                  <a:srgbClr val="000000"/>
                </a:solidFill>
                <a:latin typeface="Courier New"/>
              </a:rPr>
              <a:t>entity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generic (Nb: integer; log2NFIFO: integer);
  port (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,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std_logic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 : in 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0);
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out signed(Nb+log2NFIFO-1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0));
end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;
architecture Behavioral of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divide_by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is
  constant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Nacc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: integer := Nb + log2NFIFO;
  signal reg : signed(Nacc-1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
             := (others =&gt; '0');
begin
  process(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
  begin
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rising_edge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clk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) then
      if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rst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'0' then
        reg &lt;= (others =&gt; '0');
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elsif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en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= '1' then
        reg(Nacc-log2NFIFO-1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0) &lt;=
        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datain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log2NFIFO);
        reg(Nacc-1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downto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Nacc-log2NFIFO) &lt;=
          (others =&gt; '0');
      end if;
    end if;
  end process;
  </a:t>
            </a:r>
            <a:r>
              <a:rPr sz="800" dirty="0" err="1">
                <a:solidFill>
                  <a:srgbClr val="000000"/>
                </a:solidFill>
                <a:latin typeface="Courier New"/>
              </a:rPr>
              <a:t>dataout</a:t>
            </a:r>
            <a:r>
              <a:rPr sz="800" dirty="0">
                <a:solidFill>
                  <a:srgbClr val="000000"/>
                </a:solidFill>
                <a:latin typeface="Courier New"/>
              </a:rPr>
              <a:t> &lt;= reg;
end Behavioral;</a:t>
            </a:r>
          </a:p>
        </p:txBody>
      </p:sp>
      <p:sp>
        <p:nvSpPr>
          <p:cNvPr id="6" name="Rectangle 5"/>
          <p:cNvSpPr/>
          <p:nvPr/>
        </p:nvSpPr>
        <p:spPr>
          <a:xfrm>
            <a:off x="6024254" y="1206946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24254" y="1206946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33982" y="1252666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Principle </a:t>
            </a:r>
            <a:r>
              <a:rPr lang="it-IT" sz="110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1100" b="1" i="0" dirty="0">
                <a:solidFill>
                  <a:srgbClr val="FFFFFF"/>
                </a:solidFill>
                <a:latin typeface="Calibri"/>
              </a:rPr>
              <a:t> Right 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33982" y="1609282"/>
            <a:ext cx="5221224" cy="999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0000"/>
                </a:solidFill>
                <a:latin typeface="Calibri"/>
              </a:rPr>
              <a:t>NFIFO = 2^log₂NFIFO  →  division by NFIFO = arithmetic right-shift by log₂NFIFO positions.
No multiplier or divider needed — implemented as pure wiring in hardware.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24254" y="2810194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024254" y="2810194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33982" y="2855914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Bit Mapping  (NFIFO=64, Nb=8)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3982" y="3212530"/>
            <a:ext cx="522122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[13:0] </a:t>
            </a:r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accumulator output yₙ
  bits [13:6]  →  integer quotient
  bits  [5:0]  →  fractional (discarded)
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[13:0]
  bits  [7:0]  →  result (0…255)
  bits [13:8]  →  '000000' (zero-filled)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24254" y="4413442"/>
            <a:ext cx="5440680" cy="1493520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24254" y="4413442"/>
            <a:ext cx="5440680" cy="347472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33982" y="4459162"/>
            <a:ext cx="5221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Example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33982" y="4815778"/>
            <a:ext cx="52212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000000"/>
                </a:solidFill>
                <a:latin typeface="Calibri"/>
              </a:rPr>
              <a:t>datain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13119  ("11001100111111")
13119 ÷ 64 = 204  → 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dataout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= 204  
(Hex check: 333f → 00cc visible in </a:t>
            </a:r>
            <a:r>
              <a:rPr sz="1000" b="0" i="0" dirty="0" err="1">
                <a:solidFill>
                  <a:srgbClr val="000000"/>
                </a:solidFill>
                <a:latin typeface="Calibri"/>
              </a:rPr>
              <a:t>Vivado</a:t>
            </a:r>
            <a:r>
              <a:rPr sz="1000" b="0" i="0" dirty="0">
                <a:solidFill>
                  <a:srgbClr val="000000"/>
                </a:solidFill>
                <a:latin typeface="Calibri"/>
              </a:rPr>
              <a:t> Objects)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Calibri"/>
              </a:rPr>
              <a:t>divide_by</a:t>
            </a:r>
            <a:r>
              <a:rPr dirty="0">
                <a:latin typeface="Calibri"/>
              </a:rPr>
              <a:t>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Testbench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337911"/>
              </p:ext>
            </p:extLst>
          </p:nvPr>
        </p:nvGraphicFramePr>
        <p:xfrm>
          <a:off x="766232" y="1326452"/>
          <a:ext cx="10709488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25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2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4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98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2910"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 (dec)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Binary (14 bit)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datains (constant input)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13119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11001100111111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Constant test vector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 b="0" dirty="0" err="1">
                          <a:latin typeface="Calibri"/>
                        </a:rPr>
                        <a:t>dataouts</a:t>
                      </a:r>
                      <a:r>
                        <a:rPr sz="1000" b="0" dirty="0">
                          <a:latin typeface="Calibri"/>
                        </a:rPr>
                        <a:t> (expected)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00000011001100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13119 &gt;&gt; 6 = 204 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91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Hex visible in Objects panel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datains=333f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dataouts=00cc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Correct before waveform run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66232" y="3018092"/>
            <a:ext cx="10709487" cy="2861500"/>
          </a:xfrm>
          <a:prstGeom prst="rect">
            <a:avLst/>
          </a:prstGeom>
          <a:solidFill>
            <a:srgbClr val="F0F2F4"/>
          </a:solidFill>
          <a:ln w="1016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7CEB19AA-D506-37BF-3462-0C26DE2F50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420" y="3101228"/>
            <a:ext cx="10486165" cy="266059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Frequency Response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NFIFO = 32, 64, 128</a:t>
            </a:r>
            <a:r>
              <a:rPr lang="it-IT" dirty="0">
                <a:latin typeface="Calibri"/>
              </a:rPr>
              <a:t>, 256</a:t>
            </a:r>
            <a:endParaRPr dirty="0">
              <a:latin typeface="Calibr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58389" y="140467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58389" y="1404678"/>
            <a:ext cx="2423160" cy="329184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9829" y="144125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9829" y="1788726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781 kHz
Wider passband, less noise rejection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58389" y="252195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58389" y="2521958"/>
            <a:ext cx="2423160" cy="329184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49829" y="255853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9829" y="2906006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391 kHz
Good balance: signal + noise well separated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8389" y="3640569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58389" y="3640569"/>
            <a:ext cx="2423160" cy="329184"/>
          </a:xfrm>
          <a:prstGeom prst="rect">
            <a:avLst/>
          </a:prstGeom>
          <a:solidFill>
            <a:srgbClr val="B7950B"/>
          </a:solidFill>
          <a:ln>
            <a:solidFill>
              <a:srgbClr val="B795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9829" y="3677145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NFIFO=128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9829" y="4024617"/>
            <a:ext cx="2240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195 kHz ≈ f₀
Narrowest band. Signal starts to attenuate!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480" y="5743048"/>
            <a:ext cx="106070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Key: NFIFO=256 pushes </a:t>
            </a:r>
            <a:r>
              <a:rPr lang="en-US" sz="1200" dirty="0" err="1">
                <a:latin typeface="Calibri"/>
              </a:rPr>
              <a:t>fcutoff</a:t>
            </a:r>
            <a:r>
              <a:rPr lang="en-US" sz="1200" dirty="0">
                <a:latin typeface="Calibri"/>
              </a:rPr>
              <a:t> below f₀, the magnitude plot shows the signal frequency itself now lies in the stop-band.</a:t>
            </a:r>
            <a:endParaRPr sz="850" b="0" i="0" dirty="0">
              <a:latin typeface="Calibri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DC55FFC8-B6E7-2ABB-CDCF-E3344B630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6352" y="1404678"/>
            <a:ext cx="5651714" cy="4237170"/>
          </a:xfrm>
          <a:prstGeom prst="rect">
            <a:avLst/>
          </a:prstGeom>
        </p:spPr>
      </p:pic>
      <p:sp>
        <p:nvSpPr>
          <p:cNvPr id="17" name="Rectangle 12">
            <a:extLst>
              <a:ext uri="{FF2B5EF4-FFF2-40B4-BE49-F238E27FC236}">
                <a16:creationId xmlns:a16="http://schemas.microsoft.com/office/drawing/2014/main" id="{55BDDB29-FB14-33BB-E5F0-58937837A532}"/>
              </a:ext>
            </a:extLst>
          </p:cNvPr>
          <p:cNvSpPr/>
          <p:nvPr/>
        </p:nvSpPr>
        <p:spPr>
          <a:xfrm>
            <a:off x="858389" y="4754968"/>
            <a:ext cx="2423160" cy="84239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2D846284-574B-48CF-DFAC-5E438C752B58}"/>
              </a:ext>
            </a:extLst>
          </p:cNvPr>
          <p:cNvSpPr/>
          <p:nvPr/>
        </p:nvSpPr>
        <p:spPr>
          <a:xfrm>
            <a:off x="858389" y="4754968"/>
            <a:ext cx="2423160" cy="329184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14">
            <a:extLst>
              <a:ext uri="{FF2B5EF4-FFF2-40B4-BE49-F238E27FC236}">
                <a16:creationId xmlns:a16="http://schemas.microsoft.com/office/drawing/2014/main" id="{8792D3CF-B9A0-4A99-20B2-0AE3C5FA1CFA}"/>
              </a:ext>
            </a:extLst>
          </p:cNvPr>
          <p:cNvSpPr txBox="1"/>
          <p:nvPr/>
        </p:nvSpPr>
        <p:spPr>
          <a:xfrm>
            <a:off x="949829" y="4791544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NFIFO=</a:t>
            </a:r>
            <a:r>
              <a:rPr lang="it-IT" sz="1100" b="1" dirty="0">
                <a:solidFill>
                  <a:srgbClr val="FFFFFF"/>
                </a:solidFill>
                <a:latin typeface="Calibri"/>
              </a:rPr>
              <a:t>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15">
            <a:extLst>
              <a:ext uri="{FF2B5EF4-FFF2-40B4-BE49-F238E27FC236}">
                <a16:creationId xmlns:a16="http://schemas.microsoft.com/office/drawing/2014/main" id="{89E12F89-2E9F-BE90-A556-FD6B3CB839F5}"/>
              </a:ext>
            </a:extLst>
          </p:cNvPr>
          <p:cNvSpPr txBox="1"/>
          <p:nvPr/>
        </p:nvSpPr>
        <p:spPr>
          <a:xfrm>
            <a:off x="949829" y="5139016"/>
            <a:ext cx="2240280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= fs/(2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*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NFIFO) = 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98</a:t>
            </a:r>
            <a:r>
              <a:rPr sz="900" b="0" i="0" dirty="0">
                <a:solidFill>
                  <a:srgbClr val="000000"/>
                </a:solidFill>
                <a:latin typeface="Calibri"/>
              </a:rPr>
              <a:t> kHz ≈ f₀
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Band </a:t>
            </a:r>
            <a:r>
              <a:rPr lang="it-IT" sz="900" b="0" i="0" dirty="0" err="1">
                <a:solidFill>
                  <a:srgbClr val="000000"/>
                </a:solidFill>
                <a:latin typeface="Calibri"/>
              </a:rPr>
              <a:t>now</a:t>
            </a:r>
            <a:r>
              <a:rPr lang="it-IT" sz="900" b="0" i="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b="0" i="0" dirty="0" err="1">
                <a:solidFill>
                  <a:srgbClr val="000000"/>
                </a:solidFill>
                <a:latin typeface="Calibri"/>
              </a:rPr>
              <a:t>below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f₀,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signal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itself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is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</a:t>
            </a:r>
            <a:r>
              <a:rPr lang="it-IT" sz="900" dirty="0" err="1">
                <a:solidFill>
                  <a:srgbClr val="000000"/>
                </a:solidFill>
                <a:latin typeface="Calibri"/>
              </a:rPr>
              <a:t>filtered</a:t>
            </a:r>
            <a:r>
              <a:rPr lang="it-IT" sz="900" dirty="0">
                <a:solidFill>
                  <a:srgbClr val="000000"/>
                </a:solidFill>
                <a:latin typeface="Calibri"/>
              </a:rPr>
              <a:t> out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Time Domain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</a:t>
            </a:r>
            <a:r>
              <a:rPr dirty="0" err="1">
                <a:latin typeface="Calibri"/>
              </a:rPr>
              <a:t>ysignal</a:t>
            </a:r>
            <a:r>
              <a:rPr dirty="0">
                <a:latin typeface="Calibri"/>
              </a:rPr>
              <a:t> + </a:t>
            </a:r>
            <a:r>
              <a:rPr dirty="0" err="1">
                <a:latin typeface="Calibri"/>
              </a:rPr>
              <a:t>ynoise</a:t>
            </a:r>
            <a:r>
              <a:rPr dirty="0">
                <a:latin typeface="Calibri"/>
              </a:rPr>
              <a:t> (filter output)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439" y="5616270"/>
            <a:ext cx="552679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NFIFO=32/64/128 preserve the sinusoidal shape, NFIFO=256 collapses to a near-flat line, over-filtering.</a:t>
            </a:r>
          </a:p>
        </p:txBody>
      </p:sp>
      <p:sp>
        <p:nvSpPr>
          <p:cNvPr id="19" name="Rectangle 4">
            <a:extLst>
              <a:ext uri="{FF2B5EF4-FFF2-40B4-BE49-F238E27FC236}">
                <a16:creationId xmlns:a16="http://schemas.microsoft.com/office/drawing/2014/main" id="{52110CA6-604F-D23D-6483-D2C527B7DFDF}"/>
              </a:ext>
            </a:extLst>
          </p:cNvPr>
          <p:cNvSpPr/>
          <p:nvPr/>
        </p:nvSpPr>
        <p:spPr>
          <a:xfrm>
            <a:off x="7322168" y="1427994"/>
            <a:ext cx="2116665" cy="753380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5">
            <a:extLst>
              <a:ext uri="{FF2B5EF4-FFF2-40B4-BE49-F238E27FC236}">
                <a16:creationId xmlns:a16="http://schemas.microsoft.com/office/drawing/2014/main" id="{08A0FDA4-61AF-A79D-D1E2-D427088FC27B}"/>
              </a:ext>
            </a:extLst>
          </p:cNvPr>
          <p:cNvSpPr/>
          <p:nvPr/>
        </p:nvSpPr>
        <p:spPr>
          <a:xfrm>
            <a:off x="7322168" y="1427993"/>
            <a:ext cx="2116665" cy="292608"/>
          </a:xfrm>
          <a:prstGeom prst="rect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6">
            <a:extLst>
              <a:ext uri="{FF2B5EF4-FFF2-40B4-BE49-F238E27FC236}">
                <a16:creationId xmlns:a16="http://schemas.microsoft.com/office/drawing/2014/main" id="{284DF82C-67C8-F6C6-E435-A97ADF9ED369}"/>
              </a:ext>
            </a:extLst>
          </p:cNvPr>
          <p:cNvSpPr txBox="1"/>
          <p:nvPr/>
        </p:nvSpPr>
        <p:spPr>
          <a:xfrm>
            <a:off x="7411115" y="1445815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NFIFO=32</a:t>
            </a:r>
          </a:p>
        </p:txBody>
      </p:sp>
      <p:sp>
        <p:nvSpPr>
          <p:cNvPr id="22" name="TextBox 7">
            <a:extLst>
              <a:ext uri="{FF2B5EF4-FFF2-40B4-BE49-F238E27FC236}">
                <a16:creationId xmlns:a16="http://schemas.microsoft.com/office/drawing/2014/main" id="{3CD30AFE-C556-FABB-A694-EB395E095625}"/>
              </a:ext>
            </a:extLst>
          </p:cNvPr>
          <p:cNvSpPr txBox="1"/>
          <p:nvPr/>
        </p:nvSpPr>
        <p:spPr>
          <a:xfrm>
            <a:off x="7413608" y="1812041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More residual noise. 16-sample delay (0.32 µs). Passes more noise.</a:t>
            </a:r>
          </a:p>
        </p:txBody>
      </p:sp>
      <p:sp>
        <p:nvSpPr>
          <p:cNvPr id="23" name="Rectangle 8">
            <a:extLst>
              <a:ext uri="{FF2B5EF4-FFF2-40B4-BE49-F238E27FC236}">
                <a16:creationId xmlns:a16="http://schemas.microsoft.com/office/drawing/2014/main" id="{2999AFE2-CB92-BB11-91B7-EAFCCFD1D207}"/>
              </a:ext>
            </a:extLst>
          </p:cNvPr>
          <p:cNvSpPr/>
          <p:nvPr/>
        </p:nvSpPr>
        <p:spPr>
          <a:xfrm>
            <a:off x="7324661" y="2331669"/>
            <a:ext cx="2116665" cy="748711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9">
            <a:extLst>
              <a:ext uri="{FF2B5EF4-FFF2-40B4-BE49-F238E27FC236}">
                <a16:creationId xmlns:a16="http://schemas.microsoft.com/office/drawing/2014/main" id="{6401ED32-EBBA-2500-AD1B-E26C0AEC760A}"/>
              </a:ext>
            </a:extLst>
          </p:cNvPr>
          <p:cNvSpPr/>
          <p:nvPr/>
        </p:nvSpPr>
        <p:spPr>
          <a:xfrm>
            <a:off x="7324661" y="2331668"/>
            <a:ext cx="2116665" cy="31681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10">
            <a:extLst>
              <a:ext uri="{FF2B5EF4-FFF2-40B4-BE49-F238E27FC236}">
                <a16:creationId xmlns:a16="http://schemas.microsoft.com/office/drawing/2014/main" id="{4562A437-42B1-5A0F-9705-C8C06270DED0}"/>
              </a:ext>
            </a:extLst>
          </p:cNvPr>
          <p:cNvSpPr txBox="1"/>
          <p:nvPr/>
        </p:nvSpPr>
        <p:spPr>
          <a:xfrm>
            <a:off x="7416101" y="2368244"/>
            <a:ext cx="2240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NFIFO=64</a:t>
            </a: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C873AEB-4791-012D-C562-908BC27FE889}"/>
              </a:ext>
            </a:extLst>
          </p:cNvPr>
          <p:cNvSpPr txBox="1"/>
          <p:nvPr/>
        </p:nvSpPr>
        <p:spPr>
          <a:xfrm>
            <a:off x="7324661" y="2705635"/>
            <a:ext cx="1925244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Good balance. Noise clearly reduced, sinusoid well preserved.</a:t>
            </a:r>
          </a:p>
          <a:p>
            <a:pPr algn="l"/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Rectangle 12">
            <a:extLst>
              <a:ext uri="{FF2B5EF4-FFF2-40B4-BE49-F238E27FC236}">
                <a16:creationId xmlns:a16="http://schemas.microsoft.com/office/drawing/2014/main" id="{C3D73D91-9BB8-07BA-0990-AB86AD1B0450}"/>
              </a:ext>
            </a:extLst>
          </p:cNvPr>
          <p:cNvSpPr/>
          <p:nvPr/>
        </p:nvSpPr>
        <p:spPr>
          <a:xfrm>
            <a:off x="7319675" y="3264409"/>
            <a:ext cx="2121876" cy="737657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C7DC5355-A816-3B32-8E21-D86CC776E66F}"/>
              </a:ext>
            </a:extLst>
          </p:cNvPr>
          <p:cNvSpPr/>
          <p:nvPr/>
        </p:nvSpPr>
        <p:spPr>
          <a:xfrm>
            <a:off x="7319675" y="3264408"/>
            <a:ext cx="2121876" cy="329567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14">
            <a:extLst>
              <a:ext uri="{FF2B5EF4-FFF2-40B4-BE49-F238E27FC236}">
                <a16:creationId xmlns:a16="http://schemas.microsoft.com/office/drawing/2014/main" id="{BB16B335-1815-8ED4-223E-9733F1813B08}"/>
              </a:ext>
            </a:extLst>
          </p:cNvPr>
          <p:cNvSpPr txBox="1"/>
          <p:nvPr/>
        </p:nvSpPr>
        <p:spPr>
          <a:xfrm>
            <a:off x="7411114" y="3300984"/>
            <a:ext cx="22457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NFIFO=128</a:t>
            </a:r>
          </a:p>
        </p:txBody>
      </p:sp>
      <p:sp>
        <p:nvSpPr>
          <p:cNvPr id="30" name="TextBox 15">
            <a:extLst>
              <a:ext uri="{FF2B5EF4-FFF2-40B4-BE49-F238E27FC236}">
                <a16:creationId xmlns:a16="http://schemas.microsoft.com/office/drawing/2014/main" id="{48EEF112-D3DB-4222-4CAB-9B1A68E5AFBE}"/>
              </a:ext>
            </a:extLst>
          </p:cNvPr>
          <p:cNvSpPr txBox="1"/>
          <p:nvPr/>
        </p:nvSpPr>
        <p:spPr>
          <a:xfrm>
            <a:off x="7411115" y="3648456"/>
            <a:ext cx="2030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Smoothest but 64-sample delay (1.28 µs). Signal slightly attenuated at f₀.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Rectangle 12">
            <a:extLst>
              <a:ext uri="{FF2B5EF4-FFF2-40B4-BE49-F238E27FC236}">
                <a16:creationId xmlns:a16="http://schemas.microsoft.com/office/drawing/2014/main" id="{6213582A-ADCD-E5BB-FF5D-5639B312C7E1}"/>
              </a:ext>
            </a:extLst>
          </p:cNvPr>
          <p:cNvSpPr/>
          <p:nvPr/>
        </p:nvSpPr>
        <p:spPr>
          <a:xfrm>
            <a:off x="7318104" y="5184373"/>
            <a:ext cx="2116665" cy="873607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13">
            <a:extLst>
              <a:ext uri="{FF2B5EF4-FFF2-40B4-BE49-F238E27FC236}">
                <a16:creationId xmlns:a16="http://schemas.microsoft.com/office/drawing/2014/main" id="{88915C06-B416-935C-6B9C-2235AC0680D2}"/>
              </a:ext>
            </a:extLst>
          </p:cNvPr>
          <p:cNvSpPr/>
          <p:nvPr/>
        </p:nvSpPr>
        <p:spPr>
          <a:xfrm>
            <a:off x="7318104" y="5184373"/>
            <a:ext cx="2116665" cy="34747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14">
            <a:extLst>
              <a:ext uri="{FF2B5EF4-FFF2-40B4-BE49-F238E27FC236}">
                <a16:creationId xmlns:a16="http://schemas.microsoft.com/office/drawing/2014/main" id="{5FADB323-39EA-9430-3A1D-21EFBCA2AD8B}"/>
              </a:ext>
            </a:extLst>
          </p:cNvPr>
          <p:cNvSpPr txBox="1"/>
          <p:nvPr/>
        </p:nvSpPr>
        <p:spPr>
          <a:xfrm>
            <a:off x="7409544" y="5220949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Pure </a:t>
            </a:r>
            <a:r>
              <a:rPr lang="it-IT" sz="1100" b="1" dirty="0" err="1">
                <a:solidFill>
                  <a:srgbClr val="FFFFFF"/>
                </a:solidFill>
                <a:latin typeface="Calibri"/>
              </a:rPr>
              <a:t>signal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4" name="TextBox 15">
            <a:extLst>
              <a:ext uri="{FF2B5EF4-FFF2-40B4-BE49-F238E27FC236}">
                <a16:creationId xmlns:a16="http://schemas.microsoft.com/office/drawing/2014/main" id="{98B07A36-E6DE-13FA-B8CB-7EF577C3B74F}"/>
              </a:ext>
            </a:extLst>
          </p:cNvPr>
          <p:cNvSpPr txBox="1"/>
          <p:nvPr/>
        </p:nvSpPr>
        <p:spPr>
          <a:xfrm>
            <a:off x="7409544" y="5568421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Lower DC: excludes noise mean offset (pnoise≈44 LSB). Reference only.</a:t>
            </a:r>
            <a:endParaRPr sz="900" b="0" i="0" dirty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7BA3C593-2549-417A-3DEF-05A71DBB1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440" y="1317015"/>
            <a:ext cx="5526795" cy="4143517"/>
          </a:xfrm>
          <a:prstGeom prst="rect">
            <a:avLst/>
          </a:prstGeom>
        </p:spPr>
      </p:pic>
      <p:sp>
        <p:nvSpPr>
          <p:cNvPr id="9" name="Rectangle 4">
            <a:extLst>
              <a:ext uri="{FF2B5EF4-FFF2-40B4-BE49-F238E27FC236}">
                <a16:creationId xmlns:a16="http://schemas.microsoft.com/office/drawing/2014/main" id="{51B21030-B871-C49D-3160-7E513FB6CE5A}"/>
              </a:ext>
            </a:extLst>
          </p:cNvPr>
          <p:cNvSpPr/>
          <p:nvPr/>
        </p:nvSpPr>
        <p:spPr>
          <a:xfrm>
            <a:off x="7322167" y="4226860"/>
            <a:ext cx="2116665" cy="751473"/>
          </a:xfrm>
          <a:prstGeom prst="rect">
            <a:avLst/>
          </a:prstGeom>
          <a:solidFill>
            <a:srgbClr val="FFFFFF"/>
          </a:solidFill>
          <a:ln w="762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5">
            <a:extLst>
              <a:ext uri="{FF2B5EF4-FFF2-40B4-BE49-F238E27FC236}">
                <a16:creationId xmlns:a16="http://schemas.microsoft.com/office/drawing/2014/main" id="{E75BD828-47BD-124C-B14B-269319881EB1}"/>
              </a:ext>
            </a:extLst>
          </p:cNvPr>
          <p:cNvSpPr/>
          <p:nvPr/>
        </p:nvSpPr>
        <p:spPr>
          <a:xfrm>
            <a:off x="7322167" y="4226860"/>
            <a:ext cx="2116665" cy="252907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6">
            <a:extLst>
              <a:ext uri="{FF2B5EF4-FFF2-40B4-BE49-F238E27FC236}">
                <a16:creationId xmlns:a16="http://schemas.microsoft.com/office/drawing/2014/main" id="{EB496031-FD51-16C1-B4B8-532BE1F4E3F0}"/>
              </a:ext>
            </a:extLst>
          </p:cNvPr>
          <p:cNvSpPr txBox="1"/>
          <p:nvPr/>
        </p:nvSpPr>
        <p:spPr>
          <a:xfrm>
            <a:off x="7411114" y="4244682"/>
            <a:ext cx="22402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FFFFFF"/>
                </a:solidFill>
                <a:latin typeface="Calibri"/>
              </a:rPr>
              <a:t>NFIFO=</a:t>
            </a:r>
            <a:r>
              <a:rPr lang="it-IT" sz="1100" b="1" dirty="0">
                <a:solidFill>
                  <a:srgbClr val="FFFFFF"/>
                </a:solidFill>
                <a:latin typeface="Calibri"/>
              </a:rPr>
              <a:t>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2" name="TextBox 7">
            <a:extLst>
              <a:ext uri="{FF2B5EF4-FFF2-40B4-BE49-F238E27FC236}">
                <a16:creationId xmlns:a16="http://schemas.microsoft.com/office/drawing/2014/main" id="{485DFF71-B96B-39FA-80FE-09BED3EA91CC}"/>
              </a:ext>
            </a:extLst>
          </p:cNvPr>
          <p:cNvSpPr txBox="1"/>
          <p:nvPr/>
        </p:nvSpPr>
        <p:spPr>
          <a:xfrm>
            <a:off x="7413607" y="4610908"/>
            <a:ext cx="2025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dirty="0">
                <a:solidFill>
                  <a:srgbClr val="000000"/>
                </a:solidFill>
                <a:latin typeface="Calibri"/>
              </a:rPr>
              <a:t>Signal nearly flat. </a:t>
            </a:r>
            <a:r>
              <a:rPr lang="en-US" sz="900" dirty="0" err="1">
                <a:solidFill>
                  <a:srgbClr val="000000"/>
                </a:solidFill>
                <a:latin typeface="Calibri"/>
              </a:rPr>
              <a:t>Fillter</a:t>
            </a:r>
            <a:r>
              <a:rPr lang="en-US" sz="900" dirty="0">
                <a:solidFill>
                  <a:srgbClr val="000000"/>
                </a:solidFill>
                <a:latin typeface="Calibri"/>
              </a:rPr>
              <a:t> has removed the sinusoid itself, not just noise.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latin typeface="Calibri"/>
              </a:rPr>
              <a:t>Time Domain </a:t>
            </a:r>
            <a:r>
              <a:rPr lang="it-IT" dirty="0">
                <a:latin typeface="Calibri"/>
              </a:rPr>
              <a:t>-</a:t>
            </a:r>
            <a:r>
              <a:rPr dirty="0">
                <a:latin typeface="Calibri"/>
              </a:rPr>
              <a:t> </a:t>
            </a:r>
            <a:r>
              <a:rPr dirty="0" err="1">
                <a:latin typeface="Calibri"/>
              </a:rPr>
              <a:t>ynoise</a:t>
            </a:r>
            <a:r>
              <a:rPr dirty="0">
                <a:latin typeface="Calibri"/>
              </a:rPr>
              <a:t> (Residual Noise Evolution)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68246" y="5954226"/>
            <a:ext cx="77054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latin typeface="Calibri"/>
              </a:rPr>
              <a:t>Reduction factor worsens from NFIFO=128 (≈7.0</a:t>
            </a:r>
            <a:r>
              <a:rPr lang="it-IT" sz="1200" dirty="0">
                <a:latin typeface="Calibri"/>
              </a:rPr>
              <a:t>x</a:t>
            </a:r>
            <a:r>
              <a:rPr lang="en-US" sz="1200" dirty="0">
                <a:latin typeface="Calibri"/>
              </a:rPr>
              <a:t>) to NFIFO=256 (≈5.5x), confirms over-filtering, not improvement</a:t>
            </a:r>
            <a:endParaRPr sz="1200" b="0" i="0" dirty="0">
              <a:latin typeface="Calibri"/>
            </a:endParaRPr>
          </a:p>
        </p:txBody>
      </p:sp>
      <p:graphicFrame>
        <p:nvGraphicFramePr>
          <p:cNvPr id="3" name="Table 10">
            <a:extLst>
              <a:ext uri="{FF2B5EF4-FFF2-40B4-BE49-F238E27FC236}">
                <a16:creationId xmlns:a16="http://schemas.microsoft.com/office/drawing/2014/main" id="{C193258A-257E-F8AA-720D-15834910F1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226862"/>
              </p:ext>
            </p:extLst>
          </p:nvPr>
        </p:nvGraphicFramePr>
        <p:xfrm>
          <a:off x="783707" y="4446496"/>
          <a:ext cx="99669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RMS [LSB]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Reduction vs input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Bandwidth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3.4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781.25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4.9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390.63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3.35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≈ 7.0</a:t>
                      </a:r>
                      <a:r>
                        <a:rPr lang="it-IT" sz="1000" dirty="0">
                          <a:latin typeface="Calibri"/>
                        </a:rPr>
                        <a:t>x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195.31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≈ 5</a:t>
                      </a:r>
                      <a:r>
                        <a:rPr lang="it-IT"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.5x</a:t>
                      </a:r>
                      <a:endParaRPr sz="1000" b="0" dirty="0">
                        <a:solidFill>
                          <a:schemeClr val="tx1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latin typeface="Calibri"/>
                        </a:rPr>
                        <a:t>97.66 kHz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6" name="Immagine 5">
            <a:extLst>
              <a:ext uri="{FF2B5EF4-FFF2-40B4-BE49-F238E27FC236}">
                <a16:creationId xmlns:a16="http://schemas.microsoft.com/office/drawing/2014/main" id="{630F24F0-3C45-9A7A-FCA0-F2B81AECE0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233" y="1188957"/>
            <a:ext cx="4171608" cy="3127514"/>
          </a:xfrm>
          <a:prstGeom prst="rect">
            <a:avLst/>
          </a:prstGeom>
        </p:spPr>
      </p:pic>
      <p:sp>
        <p:nvSpPr>
          <p:cNvPr id="22" name="Rectangle 5">
            <a:extLst>
              <a:ext uri="{FF2B5EF4-FFF2-40B4-BE49-F238E27FC236}">
                <a16:creationId xmlns:a16="http://schemas.microsoft.com/office/drawing/2014/main" id="{8CD05A02-3767-8229-152D-60D1631859FE}"/>
              </a:ext>
            </a:extLst>
          </p:cNvPr>
          <p:cNvSpPr/>
          <p:nvPr/>
        </p:nvSpPr>
        <p:spPr>
          <a:xfrm>
            <a:off x="5311227" y="1090465"/>
            <a:ext cx="5440680" cy="1621874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6">
            <a:extLst>
              <a:ext uri="{FF2B5EF4-FFF2-40B4-BE49-F238E27FC236}">
                <a16:creationId xmlns:a16="http://schemas.microsoft.com/office/drawing/2014/main" id="{C3256036-BA50-907A-2265-B851C1A0E567}"/>
              </a:ext>
            </a:extLst>
          </p:cNvPr>
          <p:cNvSpPr/>
          <p:nvPr/>
        </p:nvSpPr>
        <p:spPr>
          <a:xfrm>
            <a:off x="5311227" y="1188957"/>
            <a:ext cx="5440680" cy="377334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7">
            <a:extLst>
              <a:ext uri="{FF2B5EF4-FFF2-40B4-BE49-F238E27FC236}">
                <a16:creationId xmlns:a16="http://schemas.microsoft.com/office/drawing/2014/main" id="{4E958078-3629-771F-E4B5-EBB0DC38F713}"/>
              </a:ext>
            </a:extLst>
          </p:cNvPr>
          <p:cNvSpPr txBox="1"/>
          <p:nvPr/>
        </p:nvSpPr>
        <p:spPr>
          <a:xfrm>
            <a:off x="5420955" y="1264539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NFIFO = 32/64/128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5" name="TextBox 8">
            <a:extLst>
              <a:ext uri="{FF2B5EF4-FFF2-40B4-BE49-F238E27FC236}">
                <a16:creationId xmlns:a16="http://schemas.microsoft.com/office/drawing/2014/main" id="{D049F109-CBBE-21F2-9779-EB71DB40DF43}"/>
              </a:ext>
            </a:extLst>
          </p:cNvPr>
          <p:cNvSpPr txBox="1"/>
          <p:nvPr/>
        </p:nvSpPr>
        <p:spPr>
          <a:xfrm>
            <a:off x="5420955" y="1621155"/>
            <a:ext cx="5221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000" b="0" i="0" dirty="0">
                <a:solidFill>
                  <a:srgbClr val="000000"/>
                </a:solidFill>
                <a:latin typeface="Calibri"/>
              </a:rPr>
              <a:t>R</a:t>
            </a:r>
            <a:r>
              <a:rPr lang="en-US" sz="1000" dirty="0" err="1">
                <a:solidFill>
                  <a:srgbClr val="000000"/>
                </a:solidFill>
                <a:latin typeface="Calibri"/>
              </a:rPr>
              <a:t>esidual</a:t>
            </a:r>
            <a:r>
              <a:rPr lang="en-US" sz="1000" dirty="0">
                <a:solidFill>
                  <a:srgbClr val="000000"/>
                </a:solidFill>
                <a:latin typeface="Calibri"/>
              </a:rPr>
              <a:t> noise clearly visible, amplitude shrinks as NFIFO grows, expected behavior.</a:t>
            </a:r>
          </a:p>
        </p:txBody>
      </p:sp>
      <p:sp>
        <p:nvSpPr>
          <p:cNvPr id="26" name="Rectangle 9">
            <a:extLst>
              <a:ext uri="{FF2B5EF4-FFF2-40B4-BE49-F238E27FC236}">
                <a16:creationId xmlns:a16="http://schemas.microsoft.com/office/drawing/2014/main" id="{7ADD57DF-92C5-5937-4195-1BAB3CE0AAE2}"/>
              </a:ext>
            </a:extLst>
          </p:cNvPr>
          <p:cNvSpPr/>
          <p:nvPr/>
        </p:nvSpPr>
        <p:spPr>
          <a:xfrm>
            <a:off x="5311227" y="2773772"/>
            <a:ext cx="5440680" cy="1541815"/>
          </a:xfrm>
          <a:prstGeom prst="rect">
            <a:avLst/>
          </a:prstGeom>
          <a:solidFill>
            <a:srgbClr val="F0F8FF"/>
          </a:solidFill>
          <a:ln w="889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210459DA-87BC-3FC8-B636-F417E83B95A8}"/>
              </a:ext>
            </a:extLst>
          </p:cNvPr>
          <p:cNvSpPr/>
          <p:nvPr/>
        </p:nvSpPr>
        <p:spPr>
          <a:xfrm>
            <a:off x="5311227" y="2810831"/>
            <a:ext cx="5440680" cy="358708"/>
          </a:xfrm>
          <a:prstGeom prst="rect">
            <a:avLst/>
          </a:prstGeom>
          <a:solidFill>
            <a:srgbClr val="003366"/>
          </a:solidFill>
          <a:ln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CE10E70-0058-FABB-BA8A-95C4DBBFA524}"/>
              </a:ext>
            </a:extLst>
          </p:cNvPr>
          <p:cNvSpPr txBox="1"/>
          <p:nvPr/>
        </p:nvSpPr>
        <p:spPr>
          <a:xfrm>
            <a:off x="5420955" y="2867787"/>
            <a:ext cx="52212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1100" b="1" dirty="0">
                <a:solidFill>
                  <a:srgbClr val="FFFFFF"/>
                </a:solidFill>
                <a:latin typeface="Calibri"/>
              </a:rPr>
              <a:t>NFIFO = 256</a:t>
            </a:r>
            <a:endParaRPr sz="11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C9E78278-815D-6753-0F41-2105E7E922D9}"/>
              </a:ext>
            </a:extLst>
          </p:cNvPr>
          <p:cNvSpPr txBox="1"/>
          <p:nvPr/>
        </p:nvSpPr>
        <p:spPr>
          <a:xfrm>
            <a:off x="5420955" y="3224403"/>
            <a:ext cx="5221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solidFill>
                  <a:srgbClr val="000000"/>
                </a:solidFill>
                <a:latin typeface="Calibri"/>
              </a:rPr>
              <a:t>Residual looks small, but this is misleading: the signal itself was removed, not just noise.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Signal to Noise Ratio — NFIFO = 32, 64, 128, 256</a:t>
            </a:r>
          </a:p>
        </p:txBody>
      </p:sp>
      <p:sp>
        <p:nvSpPr>
          <p:cNvPr id="4" name="Rectangle 3"/>
          <p:cNvSpPr/>
          <p:nvPr/>
        </p:nvSpPr>
        <p:spPr>
          <a:xfrm>
            <a:off x="1005840" y="2244852"/>
            <a:ext cx="914400" cy="2692908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9705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70C0"/>
                </a:solidFill>
                <a:latin typeface="Calibri"/>
              </a:rPr>
              <a:t>15.5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NFIFO=32</a:t>
            </a:r>
          </a:p>
        </p:txBody>
      </p:sp>
      <p:sp>
        <p:nvSpPr>
          <p:cNvPr id="7" name="Rectangle 6"/>
          <p:cNvSpPr/>
          <p:nvPr/>
        </p:nvSpPr>
        <p:spPr>
          <a:xfrm>
            <a:off x="2240280" y="1777502"/>
            <a:ext cx="914400" cy="3160257"/>
          </a:xfrm>
          <a:prstGeom prst="rect">
            <a:avLst/>
          </a:prstGeom>
          <a:solidFill>
            <a:srgbClr val="1C7293"/>
          </a:solidFill>
          <a:ln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48840" y="150318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7293"/>
                </a:solidFill>
                <a:latin typeface="Calibri"/>
              </a:rPr>
              <a:t>18.19 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NFIFO=64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95846"/>
            <a:ext cx="914400" cy="3241913"/>
          </a:xfrm>
          <a:prstGeom prst="rect">
            <a:avLst/>
          </a:prstGeom>
          <a:solidFill>
            <a:srgbClr val="00B4D8"/>
          </a:solidFill>
          <a:ln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42152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B4D8"/>
                </a:solidFill>
                <a:latin typeface="Calibri"/>
              </a:rPr>
              <a:t>18.66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09160" y="3264682"/>
            <a:ext cx="914400" cy="1673077"/>
          </a:xfrm>
          <a:prstGeom prst="rect">
            <a:avLst/>
          </a:prstGeom>
          <a:solidFill>
            <a:srgbClr val="7B2CBF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299036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7B2CBF"/>
                </a:solidFill>
                <a:latin typeface="Calibri"/>
              </a:rPr>
              <a:t>9.63 dB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9834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00000"/>
                </a:solidFill>
                <a:latin typeface="Calibri"/>
              </a:rPr>
              <a:t>NFIFO=256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937760"/>
            <a:ext cx="5394960" cy="127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5207874"/>
            <a:ext cx="5394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latin typeface="Calibri"/>
              </a:rPr>
              <a:t>SNR [dB]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5525107"/>
              </p:ext>
            </p:extLst>
          </p:nvPr>
        </p:nvGraphicFramePr>
        <p:xfrm>
          <a:off x="6126480" y="1188720"/>
          <a:ext cx="5029200" cy="1969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fcutoff
[kHz]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Noise RMS
[LSB]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SNR [dB]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ΔSNR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781.25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15.50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390.63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18.19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+2.69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195.31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3.35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chemeClr val="tx1"/>
                          </a:solidFill>
                          <a:latin typeface="Calibri"/>
                        </a:rPr>
                        <a:t>18.66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>
                          <a:solidFill>
                            <a:schemeClr val="tx1"/>
                          </a:solidFill>
                          <a:latin typeface="Calibri"/>
                        </a:rPr>
                        <a:t>+3.16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tx1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tx1"/>
                          </a:solidFill>
                          <a:latin typeface="Calibri"/>
                        </a:rPr>
                        <a:t>97.66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chemeClr val="tx1"/>
                          </a:solidFill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chemeClr val="tx1"/>
                          </a:solidFill>
                          <a:latin typeface="Calibri"/>
                        </a:rPr>
                        <a:t>9.63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solidFill>
                            <a:schemeClr val="tx1"/>
                          </a:solidFill>
                          <a:latin typeface="Calibri"/>
                        </a:rPr>
                        <a:t>-5.87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126480" y="3291840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SNR rises 32→64→128 (15.50→18.19→18.66 dB), then collapses at 256 (9.63 dB).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12464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Peak SNR occurs near NFIFO=128, where </a:t>
            </a:r>
            <a:r>
              <a:rPr sz="95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≈ f₀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,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the optimal trade-off point.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133088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Beyond that point (NFIFO=256), </a:t>
            </a:r>
            <a:r>
              <a:rPr sz="950" b="0" i="0" dirty="0" err="1">
                <a:solidFill>
                  <a:srgbClr val="000000"/>
                </a:solidFill>
                <a:latin typeface="Calibri"/>
              </a:rPr>
              <a:t>fcutoff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&lt; f₀: noise keeps dropping but signal loss dominates, so SNR falls.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553712"/>
            <a:ext cx="5486400" cy="238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it-IT" sz="95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 Confirms SNR vs NFIFO is non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-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monotonic</a:t>
            </a:r>
            <a:r>
              <a:rPr lang="it-IT" sz="950" b="0" i="0" dirty="0">
                <a:solidFill>
                  <a:srgbClr val="000000"/>
                </a:solidFill>
                <a:latin typeface="Calibri"/>
              </a:rPr>
              <a:t>,</a:t>
            </a:r>
            <a:r>
              <a:rPr sz="950" b="0" i="0" dirty="0">
                <a:solidFill>
                  <a:srgbClr val="000000"/>
                </a:solidFill>
                <a:latin typeface="Calibri"/>
              </a:rPr>
              <a:t> a result not explored in NFIFO=32/64/128-only analyses.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Summary Table and Comments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0968033"/>
              </p:ext>
            </p:extLst>
          </p:nvPr>
        </p:nvGraphicFramePr>
        <p:xfrm>
          <a:off x="766232" y="1188720"/>
          <a:ext cx="10663768" cy="42938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4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873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32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64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128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NFIFO = 256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 dirty="0" err="1">
                          <a:latin typeface="Calibri"/>
                        </a:rPr>
                        <a:t>log₂NFIFO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fcutoff [kHz]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781.25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390.63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195.31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97.66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Noise Bandwidth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Wide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Medium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Narrow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Below f₀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Noise RMS [LSB]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6.90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4.79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3.35 ← best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4.26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SNR [dB]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15.50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18.19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18.66 ← peak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9.63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ΔSNR vs NFIFO=32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000" dirty="0">
                          <a:latin typeface="Calibri"/>
                        </a:rPr>
                        <a:t>-</a:t>
                      </a:r>
                      <a:endParaRPr sz="1000" dirty="0">
                        <a:latin typeface="Calibri"/>
                      </a:endParaRP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+2.69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+3.16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-5.87 dB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Group delay [samples]
(theory / measured)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16 / 16.5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32 / 32.9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64 / 65.4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128 / 117.8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Group delay [µs]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0.64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1.28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2.56 ← worst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Signal atten. at f₀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Negligible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Significant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Severe 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dataout width [bit]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Best use case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Low latency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/>
                        </a:rPr>
                        <a:t>Balanced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Max noise reject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/>
                        </a:rPr>
                        <a:t>Not recommended</a:t>
                      </a:r>
                    </a:p>
                  </a:txBody>
                  <a:tcPr>
                    <a:solidFill>
                      <a:srgbClr val="F0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131" y="5728333"/>
            <a:ext cx="106070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 dirty="0">
                <a:latin typeface="Calibri"/>
              </a:rPr>
              <a:t>SNR is non-monotonic, peaking at NFIFO=128 then dropping sharply at NFIFO=256 (</a:t>
            </a:r>
            <a:r>
              <a:rPr sz="1000" b="0" i="0" dirty="0" err="1">
                <a:latin typeface="Calibri"/>
              </a:rPr>
              <a:t>fcutoff</a:t>
            </a:r>
            <a:r>
              <a:rPr sz="1000" b="0" i="0" dirty="0">
                <a:latin typeface="Calibri"/>
              </a:rPr>
              <a:t> &lt; f₀). Group delay was independently validated via phase analysis of the fundamental component (Fourier projection)</a:t>
            </a:r>
            <a:r>
              <a:rPr lang="it-IT" sz="1000" b="0" i="0" dirty="0">
                <a:latin typeface="Calibri"/>
              </a:rPr>
              <a:t>,</a:t>
            </a:r>
            <a:r>
              <a:rPr sz="1000" b="0" i="0" dirty="0">
                <a:latin typeface="Calibri"/>
              </a:rPr>
              <a:t> measured values match theory within ~3% up to NFIFO=128.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latin typeface="Calibri"/>
              </a:rPr>
              <a:t>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6232" y="1313765"/>
            <a:ext cx="10724727" cy="429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Moving Average Filter successfully implemented on FPGA in VHDL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All 4 components verified independently with dedicated testbenches and end-to-end with tb_filter_ma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700" b="1" dirty="0"/>
              <a:t>SNR vs NFIFO is non-monotonic, confirmed by extending the analysis to NFIFO=256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500" dirty="0"/>
              <a:t>SNR rises from 32→64→128 (15.50→18.19→18.66 dB), peaking near NFIFO=128, then collapses to 9.63 dB at NFIFO=256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500" dirty="0"/>
              <a:t>The peak occurs exactly where </a:t>
            </a:r>
            <a:r>
              <a:rPr lang="en-US" sz="1500" dirty="0" err="1"/>
              <a:t>fcutoff</a:t>
            </a:r>
            <a:r>
              <a:rPr lang="en-US" sz="1500" dirty="0"/>
              <a:t> ≈ f₀: beyond it, the filter removes signal faster than it removes noise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Key trade-off: noise rejection vs group delay vs signal attenuation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NFIFO=128 gives the best SNR with acceptable delay, NFIFO=64 is the best low-latency compromise</a:t>
            </a:r>
          </a:p>
          <a:p>
            <a:pPr>
              <a:buNone/>
            </a:pPr>
            <a:endParaRPr lang="en-US" sz="10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US" sz="1800" b="1" dirty="0"/>
              <a:t>Possible improvements: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Weighted MA (Hann/Hamming window) for sharper frequency roll-off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Configurable NFIFO via register to switch filter bandwidth at runtime</a:t>
            </a:r>
          </a:p>
          <a:p>
            <a:pPr marL="571500" lvl="1" indent="-285750">
              <a:buFont typeface="Wingdings" panose="05000000000000000000" pitchFamily="2" charset="2"/>
              <a:buChar char="q"/>
            </a:pPr>
            <a:r>
              <a:rPr lang="en-US" sz="1600" dirty="0"/>
              <a:t>Pipelined FIFO for higher throughput at the same clock frequency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file">
  <a:themeElements>
    <a:clrScheme name="Profile 9">
      <a:dk1>
        <a:srgbClr val="000000"/>
      </a:dk1>
      <a:lt1>
        <a:srgbClr val="FFFFFF"/>
      </a:lt1>
      <a:dk2>
        <a:srgbClr val="000000"/>
      </a:dk2>
      <a:lt2>
        <a:srgbClr val="DDDDDD"/>
      </a:lt2>
      <a:accent1>
        <a:srgbClr val="A3B2C1"/>
      </a:accent1>
      <a:accent2>
        <a:srgbClr val="CC0000"/>
      </a:accent2>
      <a:accent3>
        <a:srgbClr val="FFFFFF"/>
      </a:accent3>
      <a:accent4>
        <a:srgbClr val="000000"/>
      </a:accent4>
      <a:accent5>
        <a:srgbClr val="CED5DD"/>
      </a:accent5>
      <a:accent6>
        <a:srgbClr val="B90000"/>
      </a:accent6>
      <a:hlink>
        <a:srgbClr val="336699"/>
      </a:hlink>
      <a:folHlink>
        <a:srgbClr val="003366"/>
      </a:folHlink>
    </a:clrScheme>
    <a:fontScheme name="Profile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469900" marR="0" indent="-469900" algn="l" defTabSz="914400" rtl="0" eaLnBrk="1" fontAlgn="base" latinLnBrk="0" hangingPunct="1">
          <a:lnSpc>
            <a:spcPct val="90000"/>
          </a:lnSpc>
          <a:spcBef>
            <a:spcPct val="20000"/>
          </a:spcBef>
          <a:spcAft>
            <a:spcPct val="0"/>
          </a:spcAft>
          <a:buClr>
            <a:schemeClr val="accent2"/>
          </a:buClr>
          <a:buSzTx/>
          <a:buFont typeface="Wingdings" pitchFamily="2" charset="2"/>
          <a:buChar char="o"/>
          <a:tabLst/>
          <a:defRPr kumimoji="0" 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Verdana" pitchFamily="34" charset="0"/>
            <a:ea typeface="ＭＳ Ｐゴシック" pitchFamily="50" charset="-128"/>
          </a:defRPr>
        </a:defPPr>
      </a:lstStyle>
    </a:lnDef>
  </a:objectDefaults>
  <a:extraClrSchemeLst>
    <a:extraClrScheme>
      <a:clrScheme name="Profile 1">
        <a:dk1>
          <a:srgbClr val="A50021"/>
        </a:dk1>
        <a:lt1>
          <a:srgbClr val="FFFFFF"/>
        </a:lt1>
        <a:dk2>
          <a:srgbClr val="800000"/>
        </a:dk2>
        <a:lt2>
          <a:srgbClr val="FFFFFF"/>
        </a:lt2>
        <a:accent1>
          <a:srgbClr val="FF9900"/>
        </a:accent1>
        <a:accent2>
          <a:srgbClr val="FF3300"/>
        </a:accent2>
        <a:accent3>
          <a:srgbClr val="C0AAAA"/>
        </a:accent3>
        <a:accent4>
          <a:srgbClr val="DADADA"/>
        </a:accent4>
        <a:accent5>
          <a:srgbClr val="FFCAAA"/>
        </a:accent5>
        <a:accent6>
          <a:srgbClr val="E72D00"/>
        </a:accent6>
        <a:hlink>
          <a:srgbClr val="FFFFCC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2">
        <a:dk1>
          <a:srgbClr val="3C001E"/>
        </a:dk1>
        <a:lt1>
          <a:srgbClr val="FFFFFF"/>
        </a:lt1>
        <a:dk2>
          <a:srgbClr val="51072E"/>
        </a:dk2>
        <a:lt2>
          <a:srgbClr val="FFFFFF"/>
        </a:lt2>
        <a:accent1>
          <a:srgbClr val="89A38F"/>
        </a:accent1>
        <a:accent2>
          <a:srgbClr val="666699"/>
        </a:accent2>
        <a:accent3>
          <a:srgbClr val="B3AAAD"/>
        </a:accent3>
        <a:accent4>
          <a:srgbClr val="DADADA"/>
        </a:accent4>
        <a:accent5>
          <a:srgbClr val="C4CEC6"/>
        </a:accent5>
        <a:accent6>
          <a:srgbClr val="5C5C8A"/>
        </a:accent6>
        <a:hlink>
          <a:srgbClr val="80800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3">
        <a:dk1>
          <a:srgbClr val="333333"/>
        </a:dk1>
        <a:lt1>
          <a:srgbClr val="FFFFFF"/>
        </a:lt1>
        <a:dk2>
          <a:srgbClr val="000000"/>
        </a:dk2>
        <a:lt2>
          <a:srgbClr val="FFFFFF"/>
        </a:lt2>
        <a:accent1>
          <a:srgbClr val="3399FF"/>
        </a:accent1>
        <a:accent2>
          <a:srgbClr val="CC0000"/>
        </a:accent2>
        <a:accent3>
          <a:srgbClr val="AAAAAA"/>
        </a:accent3>
        <a:accent4>
          <a:srgbClr val="DADADA"/>
        </a:accent4>
        <a:accent5>
          <a:srgbClr val="ADCAFF"/>
        </a:accent5>
        <a:accent6>
          <a:srgbClr val="B90000"/>
        </a:accent6>
        <a:hlink>
          <a:srgbClr val="666699"/>
        </a:hlink>
        <a:folHlink>
          <a:srgbClr val="66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4">
        <a:dk1>
          <a:srgbClr val="4B3D1B"/>
        </a:dk1>
        <a:lt1>
          <a:srgbClr val="FFFFFF"/>
        </a:lt1>
        <a:dk2>
          <a:srgbClr val="330000"/>
        </a:dk2>
        <a:lt2>
          <a:srgbClr val="FFFFFF"/>
        </a:lt2>
        <a:accent1>
          <a:srgbClr val="CC9900"/>
        </a:accent1>
        <a:accent2>
          <a:srgbClr val="CC6600"/>
        </a:accent2>
        <a:accent3>
          <a:srgbClr val="ADAAAA"/>
        </a:accent3>
        <a:accent4>
          <a:srgbClr val="DADADA"/>
        </a:accent4>
        <a:accent5>
          <a:srgbClr val="E2CAAA"/>
        </a:accent5>
        <a:accent6>
          <a:srgbClr val="B95C00"/>
        </a:accent6>
        <a:hlink>
          <a:srgbClr val="666699"/>
        </a:hlink>
        <a:folHlink>
          <a:srgbClr val="CC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5">
        <a:dk1>
          <a:srgbClr val="006666"/>
        </a:dk1>
        <a:lt1>
          <a:srgbClr val="FFFFFF"/>
        </a:lt1>
        <a:dk2>
          <a:srgbClr val="003366"/>
        </a:dk2>
        <a:lt2>
          <a:srgbClr val="FFFFFF"/>
        </a:lt2>
        <a:accent1>
          <a:srgbClr val="0099CC"/>
        </a:accent1>
        <a:accent2>
          <a:srgbClr val="6666FF"/>
        </a:accent2>
        <a:accent3>
          <a:srgbClr val="AAADB8"/>
        </a:accent3>
        <a:accent4>
          <a:srgbClr val="DADADA"/>
        </a:accent4>
        <a:accent5>
          <a:srgbClr val="AACAE2"/>
        </a:accent5>
        <a:accent6>
          <a:srgbClr val="5C5CE7"/>
        </a:accent6>
        <a:hlink>
          <a:srgbClr val="FFFFCC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6">
        <a:dk1>
          <a:srgbClr val="003366"/>
        </a:dk1>
        <a:lt1>
          <a:srgbClr val="FFFFFF"/>
        </a:lt1>
        <a:dk2>
          <a:srgbClr val="006666"/>
        </a:dk2>
        <a:lt2>
          <a:srgbClr val="FFFFFF"/>
        </a:lt2>
        <a:accent1>
          <a:srgbClr val="6699FF"/>
        </a:accent1>
        <a:accent2>
          <a:srgbClr val="00CCFF"/>
        </a:accent2>
        <a:accent3>
          <a:srgbClr val="AAB8B8"/>
        </a:accent3>
        <a:accent4>
          <a:srgbClr val="DADADA"/>
        </a:accent4>
        <a:accent5>
          <a:srgbClr val="B8CAFF"/>
        </a:accent5>
        <a:accent6>
          <a:srgbClr val="00B9E7"/>
        </a:accent6>
        <a:hlink>
          <a:srgbClr val="FFFFCC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7">
        <a:dk1>
          <a:srgbClr val="000000"/>
        </a:dk1>
        <a:lt1>
          <a:srgbClr val="619CB1"/>
        </a:lt1>
        <a:dk2>
          <a:srgbClr val="FFFFFF"/>
        </a:dk2>
        <a:lt2>
          <a:srgbClr val="4E899E"/>
        </a:lt2>
        <a:accent1>
          <a:srgbClr val="FFCC00"/>
        </a:accent1>
        <a:accent2>
          <a:srgbClr val="B6523E"/>
        </a:accent2>
        <a:accent3>
          <a:srgbClr val="B7CBD5"/>
        </a:accent3>
        <a:accent4>
          <a:srgbClr val="000000"/>
        </a:accent4>
        <a:accent5>
          <a:srgbClr val="FFE2AA"/>
        </a:accent5>
        <a:accent6>
          <a:srgbClr val="A54937"/>
        </a:accent6>
        <a:hlink>
          <a:srgbClr val="99CC00"/>
        </a:hlink>
        <a:folHlink>
          <a:srgbClr val="6666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rofile 8">
        <a:dk1>
          <a:srgbClr val="598600"/>
        </a:dk1>
        <a:lt1>
          <a:srgbClr val="FFFFFF"/>
        </a:lt1>
        <a:dk2>
          <a:srgbClr val="336600"/>
        </a:dk2>
        <a:lt2>
          <a:srgbClr val="FFFFFF"/>
        </a:lt2>
        <a:accent1>
          <a:srgbClr val="33CC33"/>
        </a:accent1>
        <a:accent2>
          <a:srgbClr val="99CC00"/>
        </a:accent2>
        <a:accent3>
          <a:srgbClr val="ADB8AA"/>
        </a:accent3>
        <a:accent4>
          <a:srgbClr val="DADADA"/>
        </a:accent4>
        <a:accent5>
          <a:srgbClr val="ADE2AD"/>
        </a:accent5>
        <a:accent6>
          <a:srgbClr val="8AB900"/>
        </a:accent6>
        <a:hlink>
          <a:srgbClr val="FFCC00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rofile 9">
        <a:dk1>
          <a:srgbClr val="000000"/>
        </a:dk1>
        <a:lt1>
          <a:srgbClr val="FFFFFF"/>
        </a:lt1>
        <a:dk2>
          <a:srgbClr val="000000"/>
        </a:dk2>
        <a:lt2>
          <a:srgbClr val="DDDDDD"/>
        </a:lt2>
        <a:accent1>
          <a:srgbClr val="A3B2C1"/>
        </a:accent1>
        <a:accent2>
          <a:srgbClr val="CC0000"/>
        </a:accent2>
        <a:accent3>
          <a:srgbClr val="FFFFFF"/>
        </a:accent3>
        <a:accent4>
          <a:srgbClr val="000000"/>
        </a:accent4>
        <a:accent5>
          <a:srgbClr val="CED5DD"/>
        </a:accent5>
        <a:accent6>
          <a:srgbClr val="B90000"/>
        </a:accent6>
        <a:hlink>
          <a:srgbClr val="336699"/>
        </a:hlink>
        <a:folHlink>
          <a:srgbClr val="0033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9A656CF8C467741A56A16B7574AC68E" ma:contentTypeVersion="12" ma:contentTypeDescription="Creare un nuovo documento." ma:contentTypeScope="" ma:versionID="4f27b0f6ef663e5da5bafac1efc6fe9a">
  <xsd:schema xmlns:xsd="http://www.w3.org/2001/XMLSchema" xmlns:xs="http://www.w3.org/2001/XMLSchema" xmlns:p="http://schemas.microsoft.com/office/2006/metadata/properties" xmlns:ns3="d81608ca-db68-4891-9f53-9b89cbfff5c6" xmlns:ns4="be3c09a5-e964-4602-bd74-bbf48e0fabf1" targetNamespace="http://schemas.microsoft.com/office/2006/metadata/properties" ma:root="true" ma:fieldsID="8a6d6b69e42fa993b1c0a33dd1bd5a45" ns3:_="" ns4:_="">
    <xsd:import namespace="d81608ca-db68-4891-9f53-9b89cbfff5c6"/>
    <xsd:import namespace="be3c09a5-e964-4602-bd74-bbf48e0fabf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81608ca-db68-4891-9f53-9b89cbfff5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4" nillable="true" ma:displayName="_activity" ma:hidden="true" ma:internalName="_activity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3c09a5-e964-4602-bd74-bbf48e0fabf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ndivis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Condiviso con dettagli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7" nillable="true" ma:displayName="Hash suggerimento condivisione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d81608ca-db68-4891-9f53-9b89cbfff5c6" xsi:nil="true"/>
  </documentManagement>
</p:properties>
</file>

<file path=customXml/itemProps1.xml><?xml version="1.0" encoding="utf-8"?>
<ds:datastoreItem xmlns:ds="http://schemas.openxmlformats.org/officeDocument/2006/customXml" ds:itemID="{AC7A1D52-4C7C-4BE2-BA1D-9D952C857EA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81608ca-db68-4891-9f53-9b89cbfff5c6"/>
    <ds:schemaRef ds:uri="be3c09a5-e964-4602-bd74-bbf48e0fabf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E8D78F2-F211-4F79-8A63-15AEAF64F23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F5952B0-BE3F-4397-8C49-DFA106167C99}">
  <ds:schemaRefs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purl.org/dc/dcmitype/"/>
    <ds:schemaRef ds:uri="http://schemas.openxmlformats.org/package/2006/metadata/core-properties"/>
    <ds:schemaRef ds:uri="be3c09a5-e964-4602-bd74-bbf48e0fabf1"/>
    <ds:schemaRef ds:uri="d81608ca-db68-4891-9f53-9b89cbfff5c6"/>
    <ds:schemaRef ds:uri="http://www.w3.org/XML/1998/namespace"/>
    <ds:schemaRef ds:uri="http://schemas.microsoft.com/office/2006/metadata/properties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10606</TotalTime>
  <Words>2133</Words>
  <Application>Microsoft Office PowerPoint</Application>
  <PresentationFormat>Widescreen</PresentationFormat>
  <Paragraphs>271</Paragraphs>
  <Slides>14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8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3" baseType="lpstr">
      <vt:lpstr>Arial</vt:lpstr>
      <vt:lpstr>Calibri</vt:lpstr>
      <vt:lpstr>Comic Sans MS</vt:lpstr>
      <vt:lpstr>Courier New</vt:lpstr>
      <vt:lpstr>NimbusRomNo9L-Regu</vt:lpstr>
      <vt:lpstr>Times New Roman</vt:lpstr>
      <vt:lpstr>Verdana</vt:lpstr>
      <vt:lpstr>Wingdings</vt:lpstr>
      <vt:lpstr>Profile</vt:lpstr>
      <vt:lpstr> El Hanafi Nadim 894489</vt:lpstr>
      <vt:lpstr>Introduction - filter_ma Architecture</vt:lpstr>
      <vt:lpstr>Multiadder - Design</vt:lpstr>
      <vt:lpstr>Multiadder - Testbench</vt:lpstr>
      <vt:lpstr>Accumulator - Design</vt:lpstr>
      <vt:lpstr>Accumulator - Testbench</vt:lpstr>
      <vt:lpstr>divide_by - Design</vt:lpstr>
      <vt:lpstr>divide_by - Testbench</vt:lpstr>
      <vt:lpstr>Frequency Response - NFIFO = 32, 64, 128, 256</vt:lpstr>
      <vt:lpstr>Time Domain - ysignal + ynoise (filter output)</vt:lpstr>
      <vt:lpstr>Time Domain - ynoise (Residual Noise Evolution)</vt:lpstr>
      <vt:lpstr>Signal to Noise Ratio — NFIFO = 32, 64, 128, 256</vt:lpstr>
      <vt:lpstr>Summary Table and Comments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ali</dc:creator>
  <cp:lastModifiedBy>Nadim El Hanafi</cp:lastModifiedBy>
  <cp:revision>8558</cp:revision>
  <cp:lastPrinted>2022-09-05T12:26:59Z</cp:lastPrinted>
  <dcterms:created xsi:type="dcterms:W3CDTF">2009-04-22T19:24:48Z</dcterms:created>
  <dcterms:modified xsi:type="dcterms:W3CDTF">2026-06-19T21:53:20Z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0x01010009A656CF8C467741A56A16B7574AC68E</vt:lpwstr>
  </property>
</Properties>
</file>