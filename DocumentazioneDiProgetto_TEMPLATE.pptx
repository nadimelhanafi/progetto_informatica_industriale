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10">
  <p:sldMasterIdLst>
    <p:sldMasterId id="2147483688" r:id="rId4"/>
  </p:sldMasterIdLst>
  <p:notesMasterIdLst>
    <p:notesMasterId r:id="rId19"/>
  </p:notesMasterIdLst>
  <p:handoutMasterIdLst>
    <p:handoutMasterId r:id="rId20"/>
  </p:handoutMasterIdLst>
  <p:sldIdLst>
    <p:sldId id="898" r:id="rId5"/>
    <p:sldId id="1129" r:id="rId6"/>
    <p:sldId id="1160" r:id="rId7"/>
    <p:sldId id="1161" r:id="rId8"/>
    <p:sldId id="1162" r:id="rId9"/>
    <p:sldId id="1163" r:id="rId10"/>
    <p:sldId id="1172" r:id="rId11"/>
    <p:sldId id="1165" r:id="rId12"/>
    <p:sldId id="1166" r:id="rId13"/>
    <p:sldId id="1167" r:id="rId14"/>
    <p:sldId id="1168" r:id="rId15"/>
    <p:sldId id="1169" r:id="rId16"/>
    <p:sldId id="1170" r:id="rId17"/>
    <p:sldId id="1171" r:id="rId18"/>
  </p:sldIdLst>
  <p:sldSz cx="12192000" cy="6858000"/>
  <p:notesSz cx="6946900" cy="10058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71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69">
          <p15:clr>
            <a:srgbClr val="A4A3A4"/>
          </p15:clr>
        </p15:guide>
        <p15:guide id="2" pos="218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chen Li" initials="XL" lastIdx="9" clrIdx="0">
    <p:extLst>
      <p:ext uri="{19B8F6BF-5375-455C-9EA6-DF929625EA0E}">
        <p15:presenceInfo xmlns:p15="http://schemas.microsoft.com/office/powerpoint/2012/main" userId="45f28ff92f64b98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00FF"/>
    <a:srgbClr val="F0F8FF"/>
    <a:srgbClr val="FF00FF"/>
    <a:srgbClr val="FF3399"/>
    <a:srgbClr val="FFCCFF"/>
    <a:srgbClr val="00FF00"/>
    <a:srgbClr val="FFFF66"/>
    <a:srgbClr val="00FF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71" autoAdjust="0"/>
    <p:restoredTop sz="95759" autoAdjust="0"/>
  </p:normalViewPr>
  <p:slideViewPr>
    <p:cSldViewPr snapToObjects="1">
      <p:cViewPr>
        <p:scale>
          <a:sx n="89" d="100"/>
          <a:sy n="89" d="100"/>
        </p:scale>
        <p:origin x="384" y="-53"/>
      </p:cViewPr>
      <p:guideLst>
        <p:guide orient="horz" pos="686"/>
        <p:guide pos="7167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4086" y="54"/>
      </p:cViewPr>
      <p:guideLst>
        <p:guide orient="horz" pos="3169"/>
        <p:guide pos="2187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>
            <a:lvl1pPr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Times New Roman" pitchFamily="18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>
            <a:lvl1pPr algn="r"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Times New Roman" pitchFamily="18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55163"/>
            <a:ext cx="300990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b" anchorCtr="0" compatLnSpc="1">
            <a:prstTxWarp prst="textNoShape">
              <a:avLst/>
            </a:prstTxWarp>
          </a:bodyPr>
          <a:lstStyle>
            <a:lvl1pPr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Times New Roman" pitchFamily="18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9555163"/>
            <a:ext cx="300990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b" anchorCtr="0" compatLnSpc="1">
            <a:prstTxWarp prst="textNoShape">
              <a:avLst/>
            </a:prstTxWarp>
          </a:bodyPr>
          <a:lstStyle>
            <a:lvl1pPr algn="r" defTabSz="946150">
              <a:defRPr kumimoji="1" sz="1200">
                <a:latin typeface="Times New Roman" panose="02020603050405020304" pitchFamily="18" charset="0"/>
              </a:defRPr>
            </a:lvl1pPr>
          </a:lstStyle>
          <a:p>
            <a:fld id="{D95DEC9B-2CEC-4405-ADE4-D0456C051506}" type="slidenum">
              <a:rPr lang="en-US" altLang="ja-JP"/>
              <a:pPr/>
              <a:t>‹N›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17670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08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>
            <a:lvl1pPr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Arial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2238" y="0"/>
            <a:ext cx="2989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>
            <a:lvl1pPr algn="r"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Arial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9300" y="177800"/>
            <a:ext cx="5446713" cy="3063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61925" y="3351213"/>
            <a:ext cx="6623050" cy="609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ja-JP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44050"/>
            <a:ext cx="299085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b" anchorCtr="0" compatLnSpc="1">
            <a:prstTxWarp prst="textNoShape">
              <a:avLst/>
            </a:prstTxWarp>
          </a:bodyPr>
          <a:lstStyle>
            <a:lvl1pPr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Arial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2238" y="9544050"/>
            <a:ext cx="2989262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b" anchorCtr="0" compatLnSpc="1">
            <a:prstTxWarp prst="textNoShape">
              <a:avLst/>
            </a:prstTxWarp>
          </a:bodyPr>
          <a:lstStyle>
            <a:lvl1pPr algn="r" defTabSz="946150">
              <a:defRPr kumimoji="1" sz="1200">
                <a:latin typeface="Arial" panose="020B0604020202020204" pitchFamily="34" charset="0"/>
              </a:defRPr>
            </a:lvl1pPr>
          </a:lstStyle>
          <a:p>
            <a:fld id="{D6B6717F-986F-4A3F-9037-B1B1D8AD583E}" type="slidenum">
              <a:rPr lang="en-US" altLang="ja-JP"/>
              <a:pPr/>
              <a:t>‹N›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744385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600" b="1" kern="1200">
        <a:solidFill>
          <a:schemeClr val="tx1"/>
        </a:solidFill>
        <a:latin typeface="Arial" charset="0"/>
        <a:ea typeface="HG丸ｺﾞｼｯｸM-PRO" pitchFamily="50" charset="-128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B6717F-986F-4A3F-9037-B1B1D8AD583E}" type="slidenum">
              <a:rPr lang="en-US" altLang="ja-JP" smtClean="0"/>
              <a:pPr/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72870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3339557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CA" sz="2000"/>
          </a:p>
        </p:txBody>
      </p:sp>
      <p:sp>
        <p:nvSpPr>
          <p:cNvPr id="13649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64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2635766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9558538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6AEE32-87CF-4B18-ACD9-DC92317905A5}" type="slidenum">
              <a:rPr lang="en-US" altLang="en-US" smtClean="0"/>
              <a:pPr/>
              <a:t>‹N›</a:t>
            </a:fld>
            <a:endParaRPr lang="en-US" altLang="en-US" dirty="0"/>
          </a:p>
        </p:txBody>
      </p:sp>
      <p:sp>
        <p:nvSpPr>
          <p:cNvPr id="6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400" b="1"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4" name="Picture 3" descr="A picture containing art, graphics, line, triangle&#10;&#10;Description automatically generated">
            <a:extLst>
              <a:ext uri="{FF2B5EF4-FFF2-40B4-BE49-F238E27FC236}">
                <a16:creationId xmlns:a16="http://schemas.microsoft.com/office/drawing/2014/main" id="{80FB6A95-E479-121B-BCF2-A197FB93F1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3" y="5943788"/>
            <a:ext cx="766647" cy="8269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F60219-CCBB-558E-09C1-CD961B584888}"/>
              </a:ext>
            </a:extLst>
          </p:cNvPr>
          <p:cNvSpPr txBox="1"/>
          <p:nvPr userDrawn="1"/>
        </p:nvSpPr>
        <p:spPr>
          <a:xfrm>
            <a:off x="755651" y="6354325"/>
            <a:ext cx="25520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INFORMATICA INDUSTRIALE</a:t>
            </a:r>
          </a:p>
          <a:p>
            <a:pPr algn="ctr">
              <a:defRPr/>
            </a:pPr>
            <a:r>
              <a:rPr lang="en-US" sz="1200" b="1" dirty="0">
                <a:solidFill>
                  <a:srgbClr val="0000FF"/>
                </a:solidFill>
                <a:latin typeface="Comic Sans MS" panose="030F0702030302020204" pitchFamily="66" charset="0"/>
              </a:rPr>
              <a:t>email@unimib.it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8339A5-0ED6-D609-7369-31F0EB80C236}"/>
              </a:ext>
            </a:extLst>
          </p:cNvPr>
          <p:cNvSpPr txBox="1"/>
          <p:nvPr userDrawn="1"/>
        </p:nvSpPr>
        <p:spPr>
          <a:xfrm>
            <a:off x="5465930" y="6354325"/>
            <a:ext cx="6094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en-US" sz="2000" b="1" dirty="0">
                <a:solidFill>
                  <a:srgbClr val="00B050"/>
                </a:solidFill>
                <a:latin typeface="Comic Sans MS" panose="030F0702030302020204" pitchFamily="66" charset="0"/>
              </a:rPr>
              <a:t>FPGA Design – Digital </a:t>
            </a:r>
            <a:r>
              <a:rPr lang="it-IT" altLang="en-US" sz="2000" b="1" dirty="0" err="1">
                <a:solidFill>
                  <a:srgbClr val="00B050"/>
                </a:solidFill>
                <a:latin typeface="Comic Sans MS" panose="030F0702030302020204" pitchFamily="66" charset="0"/>
              </a:rPr>
              <a:t>Signals</a:t>
            </a:r>
            <a:endParaRPr lang="en-GB" altLang="en-US" sz="2000" b="1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28223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0875EF-C2EB-41B9-9120-4F34CB1DDB5F}" type="slidenum">
              <a:rPr lang="en-US" altLang="en-US" smtClean="0"/>
              <a:pPr/>
              <a:t>‹N›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0070320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333500"/>
            <a:ext cx="5232400" cy="4686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333500"/>
            <a:ext cx="5232400" cy="4686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Author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70ECB4-3ED6-47B4-92E1-16EDC40A6A2B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4003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800" y="223200"/>
            <a:ext cx="7970400" cy="720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32AD43-E5B6-4C0C-B28F-4F3BDC35F92C}" type="slidenum">
              <a:rPr lang="en-US" altLang="en-US" smtClean="0"/>
              <a:pPr/>
              <a:t>‹N›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0586158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222381"/>
            <a:ext cx="7971367" cy="720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333500"/>
            <a:ext cx="10668000" cy="4306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989013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CA" sz="20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30932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 sz="2000"/>
          </a:p>
        </p:txBody>
      </p:sp>
      <p:sp>
        <p:nvSpPr>
          <p:cNvPr id="136397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373130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Author</a:t>
            </a:r>
          </a:p>
        </p:txBody>
      </p:sp>
      <p:sp>
        <p:nvSpPr>
          <p:cNvPr id="13639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73130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6397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73130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669A0AA-7294-4E49-A360-EB85DE381848}" type="slidenum">
              <a:rPr lang="en-US" altLang="en-US"/>
              <a:pPr/>
              <a:t>‹N›</a:t>
            </a:fld>
            <a:r>
              <a:rPr lang="en-US" altLang="en-US" dirty="0"/>
              <a:t> of 70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6" r:id="rId1"/>
    <p:sldLayoutId id="2147484087" r:id="rId2"/>
    <p:sldLayoutId id="2147484079" r:id="rId3"/>
    <p:sldLayoutId id="2147484088" r:id="rId4"/>
    <p:sldLayoutId id="2147484080" r:id="rId5"/>
  </p:sldLayoutIdLst>
  <p:transition/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C030536-D6A3-FCE3-120C-737C11614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9" y="1583795"/>
            <a:ext cx="10537195" cy="1371600"/>
          </a:xfrm>
        </p:spPr>
        <p:txBody>
          <a:bodyPr/>
          <a:lstStyle/>
          <a:p>
            <a:br>
              <a:rPr lang="en-GB" altLang="en-US" sz="2400" b="1" dirty="0"/>
            </a:br>
            <a:r>
              <a:rPr lang="en-GB" altLang="en-US" sz="2400" b="1" dirty="0"/>
              <a:t>El Hanafi Nadim 894489</a:t>
            </a:r>
            <a:endParaRPr lang="en-GB" altLang="en-US" sz="2400" dirty="0"/>
          </a:p>
        </p:txBody>
      </p:sp>
      <p:pic>
        <p:nvPicPr>
          <p:cNvPr id="9" name="Picture 8" descr="A picture containing art, graphics, line, triangle&#10;&#10;Description automatically generated">
            <a:extLst>
              <a:ext uri="{FF2B5EF4-FFF2-40B4-BE49-F238E27FC236}">
                <a16:creationId xmlns:a16="http://schemas.microsoft.com/office/drawing/2014/main" id="{248F0F6B-6FF7-0BDC-4633-8BF6DF0E1A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470" y="4914165"/>
            <a:ext cx="1440160" cy="1553377"/>
          </a:xfrm>
          <a:prstGeom prst="rect">
            <a:avLst/>
          </a:prstGeom>
        </p:spPr>
      </p:pic>
      <p:sp>
        <p:nvSpPr>
          <p:cNvPr id="3" name="Subtitle 7">
            <a:extLst>
              <a:ext uri="{FF2B5EF4-FFF2-40B4-BE49-F238E27FC236}">
                <a16:creationId xmlns:a16="http://schemas.microsoft.com/office/drawing/2014/main" id="{4501EFC6-D762-8243-D017-B6D989F073E7}"/>
              </a:ext>
            </a:extLst>
          </p:cNvPr>
          <p:cNvSpPr txBox="1">
            <a:spLocks/>
          </p:cNvSpPr>
          <p:nvPr/>
        </p:nvSpPr>
        <p:spPr bwMode="auto">
          <a:xfrm>
            <a:off x="920426" y="2901533"/>
            <a:ext cx="10891209" cy="406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altLang="en-US" sz="2000" kern="0" dirty="0"/>
              <a:t>Informatica Industriale</a:t>
            </a:r>
            <a:endParaRPr lang="en-US" sz="2600" kern="0" dirty="0"/>
          </a:p>
        </p:txBody>
      </p:sp>
      <p:pic>
        <p:nvPicPr>
          <p:cNvPr id="4" name="Picture 3" descr="A logo with a gold and blue text&#10;&#10;Description automatically generated with medium confidence">
            <a:extLst>
              <a:ext uri="{FF2B5EF4-FFF2-40B4-BE49-F238E27FC236}">
                <a16:creationId xmlns:a16="http://schemas.microsoft.com/office/drawing/2014/main" id="{140A5226-4D66-DB39-6D5D-E593DD2B67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197" y="5010689"/>
            <a:ext cx="2017820" cy="1360328"/>
          </a:xfrm>
          <a:prstGeom prst="rect">
            <a:avLst/>
          </a:prstGeom>
        </p:spPr>
      </p:pic>
      <p:sp>
        <p:nvSpPr>
          <p:cNvPr id="5" name="Subtitle 7">
            <a:extLst>
              <a:ext uri="{FF2B5EF4-FFF2-40B4-BE49-F238E27FC236}">
                <a16:creationId xmlns:a16="http://schemas.microsoft.com/office/drawing/2014/main" id="{7FEB1B2F-A930-2425-989C-37A3A776ED3F}"/>
              </a:ext>
            </a:extLst>
          </p:cNvPr>
          <p:cNvSpPr txBox="1">
            <a:spLocks/>
          </p:cNvSpPr>
          <p:nvPr/>
        </p:nvSpPr>
        <p:spPr bwMode="auto">
          <a:xfrm>
            <a:off x="920426" y="5010689"/>
            <a:ext cx="10891209" cy="398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1500" b="1" i="0" u="none" strike="noStrike" baseline="0" dirty="0">
                <a:solidFill>
                  <a:srgbClr val="0000FF"/>
                </a:solidFill>
                <a:latin typeface="NimbusRomNo9L-Regu"/>
              </a:rPr>
              <a:t>n.elhanafi@campus.unimib.it</a:t>
            </a:r>
          </a:p>
          <a:p>
            <a:pPr algn="ctr"/>
            <a:endParaRPr lang="it-IT" sz="1500" b="0" i="0" u="none" strike="noStrike" baseline="0" dirty="0">
              <a:latin typeface="NimbusRomNo9L-Regu"/>
            </a:endParaRPr>
          </a:p>
          <a:p>
            <a:r>
              <a:rPr lang="it-IT" sz="1500" b="0" i="0" u="none" strike="noStrike" baseline="0" dirty="0" err="1">
                <a:latin typeface="NimbusRomNo9L-Regu"/>
              </a:rPr>
              <a:t>Microelectronics</a:t>
            </a:r>
            <a:r>
              <a:rPr lang="it-IT" sz="1500" b="0" i="0" u="none" strike="noStrike" baseline="0" dirty="0">
                <a:latin typeface="NimbusRomNo9L-Regu"/>
              </a:rPr>
              <a:t> Group</a:t>
            </a:r>
            <a:br>
              <a:rPr lang="pl-PL" altLang="en-US" sz="1500" kern="0" dirty="0"/>
            </a:br>
            <a:endParaRPr lang="en-US" sz="1500" kern="0" dirty="0"/>
          </a:p>
        </p:txBody>
      </p:sp>
      <p:pic>
        <p:nvPicPr>
          <p:cNvPr id="6" name="Picture 5" descr="A blue circuit board with black background&#10;&#10;AI-generated content may be incorrect.">
            <a:extLst>
              <a:ext uri="{FF2B5EF4-FFF2-40B4-BE49-F238E27FC236}">
                <a16:creationId xmlns:a16="http://schemas.microsoft.com/office/drawing/2014/main" id="{1CFD4DE1-0AC0-CE25-563B-C4BB22276B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625" y="64349"/>
            <a:ext cx="3975037" cy="397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799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4E872-B632-BC3D-08D6-A564B0EC8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575B7-7E34-3DB2-2A65-301C39B84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dirty="0" err="1"/>
              <a:t>Introduction</a:t>
            </a:r>
            <a:r>
              <a:rPr lang="it-IT" dirty="0"/>
              <a:t> - </a:t>
            </a:r>
            <a:r>
              <a:rPr lang="it-IT" dirty="0" err="1"/>
              <a:t>filter_ma</a:t>
            </a:r>
            <a:r>
              <a:rPr lang="it-IT" dirty="0"/>
              <a:t>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A6D18-756C-142E-58F2-A4C9508211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E6DCD7-318B-B7D5-9373-953EA8B58AA3}"/>
              </a:ext>
            </a:extLst>
          </p:cNvPr>
          <p:cNvSpPr/>
          <p:nvPr/>
        </p:nvSpPr>
        <p:spPr bwMode="auto">
          <a:xfrm>
            <a:off x="747717" y="1268760"/>
            <a:ext cx="10696566" cy="4680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69900" marR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o"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ＭＳ Ｐゴシック" pitchFamily="50" charset="-128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E23614E8-7D78-F808-A29A-561E3096BA0A}"/>
              </a:ext>
            </a:extLst>
          </p:cNvPr>
          <p:cNvSpPr txBox="1"/>
          <p:nvPr/>
        </p:nvSpPr>
        <p:spPr>
          <a:xfrm>
            <a:off x="1311050" y="1666081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900" dirty="0">
                <a:solidFill>
                  <a:srgbClr val="333333"/>
                </a:solidFill>
                <a:latin typeface="Calibri"/>
              </a:rPr>
              <a:t> </a:t>
            </a:r>
            <a:r>
              <a:rPr lang="it-IT" sz="9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33333"/>
                </a:solidFill>
                <a:latin typeface="Calibri"/>
              </a:rPr>
              <a:t>dfilter_input</a:t>
            </a:r>
            <a:r>
              <a:rPr sz="1200" b="0" i="0" dirty="0">
                <a:solidFill>
                  <a:srgbClr val="333333"/>
                </a:solidFill>
                <a:latin typeface="Calibri"/>
              </a:rPr>
              <a:t> →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C5C52DE-5F1E-6309-1BA2-357107A5EA3A}"/>
              </a:ext>
            </a:extLst>
          </p:cNvPr>
          <p:cNvSpPr/>
          <p:nvPr/>
        </p:nvSpPr>
        <p:spPr>
          <a:xfrm>
            <a:off x="2509309" y="1522456"/>
            <a:ext cx="1554480" cy="594360"/>
          </a:xfrm>
          <a:prstGeom prst="rect">
            <a:avLst/>
          </a:prstGeom>
          <a:solidFill>
            <a:srgbClr val="0070C0"/>
          </a:solidFill>
          <a:ln w="15240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13">
            <a:extLst>
              <a:ext uri="{FF2B5EF4-FFF2-40B4-BE49-F238E27FC236}">
                <a16:creationId xmlns:a16="http://schemas.microsoft.com/office/drawing/2014/main" id="{01DC63C8-A0B1-EF92-3E59-54002308A882}"/>
              </a:ext>
            </a:extLst>
          </p:cNvPr>
          <p:cNvSpPr txBox="1"/>
          <p:nvPr/>
        </p:nvSpPr>
        <p:spPr>
          <a:xfrm>
            <a:off x="2555029" y="156817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FIFO
(delay line)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86ECD448-9473-88A3-093C-522A0403BA98}"/>
              </a:ext>
            </a:extLst>
          </p:cNvPr>
          <p:cNvSpPr txBox="1"/>
          <p:nvPr/>
        </p:nvSpPr>
        <p:spPr>
          <a:xfrm>
            <a:off x="4063789" y="168704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66"/>
                </a:solidFill>
                <a:latin typeface="Calibri"/>
              </a:rPr>
              <a:t>→</a:t>
            </a:r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7DD6E847-0138-F53B-E989-A61F259D54A3}"/>
              </a:ext>
            </a:extLst>
          </p:cNvPr>
          <p:cNvSpPr/>
          <p:nvPr/>
        </p:nvSpPr>
        <p:spPr>
          <a:xfrm>
            <a:off x="4338109" y="1522456"/>
            <a:ext cx="1554480" cy="594360"/>
          </a:xfrm>
          <a:prstGeom prst="rect">
            <a:avLst/>
          </a:prstGeom>
          <a:solidFill>
            <a:srgbClr val="0070C0"/>
          </a:solidFill>
          <a:ln w="15240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336E5211-6295-734E-8EEA-3B371D1C39D6}"/>
              </a:ext>
            </a:extLst>
          </p:cNvPr>
          <p:cNvSpPr txBox="1"/>
          <p:nvPr/>
        </p:nvSpPr>
        <p:spPr>
          <a:xfrm>
            <a:off x="4383829" y="156817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Multiadder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B4297C27-6333-3C95-9AA3-861367FC48C2}"/>
              </a:ext>
            </a:extLst>
          </p:cNvPr>
          <p:cNvSpPr txBox="1"/>
          <p:nvPr/>
        </p:nvSpPr>
        <p:spPr>
          <a:xfrm>
            <a:off x="5892589" y="168704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5A46DB90-1F91-130F-C389-A026D4206EDA}"/>
              </a:ext>
            </a:extLst>
          </p:cNvPr>
          <p:cNvSpPr/>
          <p:nvPr/>
        </p:nvSpPr>
        <p:spPr>
          <a:xfrm>
            <a:off x="6166909" y="1522456"/>
            <a:ext cx="1554480" cy="594360"/>
          </a:xfrm>
          <a:prstGeom prst="rect">
            <a:avLst/>
          </a:prstGeom>
          <a:solidFill>
            <a:srgbClr val="0070C0"/>
          </a:solidFill>
          <a:ln w="15240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B9097EDF-C2A4-09BE-437C-441963A5EDD8}"/>
              </a:ext>
            </a:extLst>
          </p:cNvPr>
          <p:cNvSpPr txBox="1"/>
          <p:nvPr/>
        </p:nvSpPr>
        <p:spPr>
          <a:xfrm>
            <a:off x="6212629" y="156817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Calibri"/>
              </a:rPr>
              <a:t>Accumulator</a:t>
            </a:r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FD3C8BBC-658D-33D0-FAE3-589372411DD1}"/>
              </a:ext>
            </a:extLst>
          </p:cNvPr>
          <p:cNvSpPr txBox="1"/>
          <p:nvPr/>
        </p:nvSpPr>
        <p:spPr>
          <a:xfrm>
            <a:off x="7721389" y="168704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  <a:latin typeface="Calibri"/>
              </a:rPr>
              <a:t>→</a:t>
            </a:r>
          </a:p>
        </p:txBody>
      </p:sp>
      <p:sp>
        <p:nvSpPr>
          <p:cNvPr id="17" name="Rectangle 21">
            <a:extLst>
              <a:ext uri="{FF2B5EF4-FFF2-40B4-BE49-F238E27FC236}">
                <a16:creationId xmlns:a16="http://schemas.microsoft.com/office/drawing/2014/main" id="{3B996005-7230-40F0-DAA0-66DC61DD4487}"/>
              </a:ext>
            </a:extLst>
          </p:cNvPr>
          <p:cNvSpPr/>
          <p:nvPr/>
        </p:nvSpPr>
        <p:spPr>
          <a:xfrm>
            <a:off x="8026561" y="1522456"/>
            <a:ext cx="1554480" cy="594360"/>
          </a:xfrm>
          <a:prstGeom prst="rect">
            <a:avLst/>
          </a:prstGeom>
          <a:solidFill>
            <a:srgbClr val="0070C0"/>
          </a:solidFill>
          <a:ln w="15240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62656BF5-6B5F-BCA5-D665-6EE6F0503E7F}"/>
              </a:ext>
            </a:extLst>
          </p:cNvPr>
          <p:cNvSpPr txBox="1"/>
          <p:nvPr/>
        </p:nvSpPr>
        <p:spPr>
          <a:xfrm>
            <a:off x="8072281" y="156817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divide_by
÷NFIFO</a:t>
            </a:r>
          </a:p>
        </p:txBody>
      </p:sp>
      <p:sp>
        <p:nvSpPr>
          <p:cNvPr id="19" name="TextBox 24">
            <a:extLst>
              <a:ext uri="{FF2B5EF4-FFF2-40B4-BE49-F238E27FC236}">
                <a16:creationId xmlns:a16="http://schemas.microsoft.com/office/drawing/2014/main" id="{9E4A45EF-AD0D-5B31-9608-32CC43865C1C}"/>
              </a:ext>
            </a:extLst>
          </p:cNvPr>
          <p:cNvSpPr txBox="1"/>
          <p:nvPr/>
        </p:nvSpPr>
        <p:spPr>
          <a:xfrm>
            <a:off x="2509309" y="211681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  <a:latin typeface="Calibri"/>
              </a:rPr>
              <a:t>↓ dₙ₋ₙFIFO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0A748048-2780-A801-925B-0265B7759B74}"/>
              </a:ext>
            </a:extLst>
          </p:cNvPr>
          <p:cNvSpPr txBox="1"/>
          <p:nvPr/>
        </p:nvSpPr>
        <p:spPr>
          <a:xfrm>
            <a:off x="9626761" y="1666080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33333"/>
                </a:solidFill>
                <a:latin typeface="Calibri"/>
              </a:rPr>
              <a:t>→ </a:t>
            </a:r>
            <a:r>
              <a:rPr sz="1200" b="0" i="0" dirty="0" err="1">
                <a:solidFill>
                  <a:srgbClr val="333333"/>
                </a:solidFill>
                <a:latin typeface="Calibri"/>
              </a:rPr>
              <a:t>dfilter_output</a:t>
            </a:r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1" name="TextBox 27">
            <a:extLst>
              <a:ext uri="{FF2B5EF4-FFF2-40B4-BE49-F238E27FC236}">
                <a16:creationId xmlns:a16="http://schemas.microsoft.com/office/drawing/2014/main" id="{142D2177-50E5-DDA3-BCC4-EC44AC40060A}"/>
              </a:ext>
            </a:extLst>
          </p:cNvPr>
          <p:cNvSpPr txBox="1"/>
          <p:nvPr/>
        </p:nvSpPr>
        <p:spPr>
          <a:xfrm>
            <a:off x="3709131" y="2441999"/>
            <a:ext cx="4275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 dirty="0">
                <a:latin typeface="Calibri"/>
              </a:rPr>
              <a:t>yₙ = yₙ₋₁ − dₙ₋ₙFIFO + dₙ          </a:t>
            </a:r>
            <a:r>
              <a:rPr sz="1400" b="1" i="1" dirty="0" err="1">
                <a:latin typeface="Calibri"/>
              </a:rPr>
              <a:t>dfilter_output</a:t>
            </a:r>
            <a:r>
              <a:rPr sz="1400" b="1" i="1" dirty="0">
                <a:latin typeface="Calibri"/>
              </a:rPr>
              <a:t> = yₙ / NFIFO</a:t>
            </a:r>
          </a:p>
        </p:txBody>
      </p:sp>
      <p:graphicFrame>
        <p:nvGraphicFramePr>
          <p:cNvPr id="23" name="Table 28">
            <a:extLst>
              <a:ext uri="{FF2B5EF4-FFF2-40B4-BE49-F238E27FC236}">
                <a16:creationId xmlns:a16="http://schemas.microsoft.com/office/drawing/2014/main" id="{423B76B6-1626-1387-EA88-FF9B46F16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698369"/>
              </p:ext>
            </p:extLst>
          </p:nvPr>
        </p:nvGraphicFramePr>
        <p:xfrm>
          <a:off x="1112520" y="2879280"/>
          <a:ext cx="99669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Port / Generic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Width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Nbf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generic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Number of bits  (Nb = 8)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log2NFIFOf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generic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log₂(NFIFO)  ∈ {5, 6, 7}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en / rst / clk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 bit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Enable, Reset active-low, Clock 50 MHz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Nbf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Input sample (signed)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dataout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out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Nbf + log2NFIFOf bits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Filtered output (signed)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30">
            <a:extLst>
              <a:ext uri="{FF2B5EF4-FFF2-40B4-BE49-F238E27FC236}">
                <a16:creationId xmlns:a16="http://schemas.microsoft.com/office/drawing/2014/main" id="{234D535A-A4C8-21CD-D514-50CB0AF3427B}"/>
              </a:ext>
            </a:extLst>
          </p:cNvPr>
          <p:cNvSpPr txBox="1"/>
          <p:nvPr/>
        </p:nvSpPr>
        <p:spPr>
          <a:xfrm>
            <a:off x="2499770" y="5289824"/>
            <a:ext cx="6785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335577"/>
                </a:solidFill>
                <a:latin typeface="Calibri"/>
              </a:rPr>
              <a:t>Nb=8  ·  fs=50 MHz   </a:t>
            </a:r>
            <a:r>
              <a:rPr lang="it-IT" sz="1400" b="0" i="0" dirty="0">
                <a:solidFill>
                  <a:srgbClr val="335577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5577"/>
                </a:solidFill>
                <a:latin typeface="Calibri"/>
              </a:rPr>
              <a:t>tclk</a:t>
            </a:r>
            <a:r>
              <a:rPr sz="1400" b="0" i="0" dirty="0">
                <a:solidFill>
                  <a:srgbClr val="335577"/>
                </a:solidFill>
                <a:latin typeface="Calibri"/>
              </a:rPr>
              <a:t>=20 ns    f₀=195.3 kHz    OVR=128    </a:t>
            </a:r>
            <a:r>
              <a:rPr sz="1400" b="0" i="0" dirty="0" err="1">
                <a:solidFill>
                  <a:srgbClr val="335577"/>
                </a:solidFill>
                <a:latin typeface="Calibri"/>
              </a:rPr>
              <a:t>SNR_input</a:t>
            </a:r>
            <a:r>
              <a:rPr sz="1400" b="0" i="0" dirty="0">
                <a:solidFill>
                  <a:srgbClr val="335577"/>
                </a:solidFill>
                <a:latin typeface="Calibri"/>
              </a:rPr>
              <a:t>=0 dB  ·  FS=256</a:t>
            </a:r>
          </a:p>
        </p:txBody>
      </p:sp>
    </p:spTree>
    <p:extLst>
      <p:ext uri="{BB962C8B-B14F-4D97-AF65-F5344CB8AC3E}">
        <p14:creationId xmlns:p14="http://schemas.microsoft.com/office/powerpoint/2010/main" val="172034914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53D04-0B2E-1C35-7624-681F89C8C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16734-5706-496E-5A91-A365ED890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410" y="222381"/>
            <a:ext cx="11406589" cy="720596"/>
          </a:xfrm>
        </p:spPr>
        <p:txBody>
          <a:bodyPr/>
          <a:lstStyle/>
          <a:p>
            <a:r>
              <a:rPr lang="it-IT" dirty="0" err="1">
                <a:latin typeface="Calibri"/>
              </a:rPr>
              <a:t>Multiadder</a:t>
            </a:r>
            <a:r>
              <a:rPr lang="it-IT" dirty="0">
                <a:latin typeface="Calibri"/>
              </a:rPr>
              <a:t> — Design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1EECD-9CAB-A2F0-6F34-B068A3734B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442AA-AD93-3C3F-2C0D-F8DD3D560D8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2D0912A-7795-8F30-15C8-A9699CE54B29}"/>
              </a:ext>
            </a:extLst>
          </p:cNvPr>
          <p:cNvSpPr/>
          <p:nvPr/>
        </p:nvSpPr>
        <p:spPr>
          <a:xfrm>
            <a:off x="827862" y="1188720"/>
            <a:ext cx="5068164" cy="4700016"/>
          </a:xfrm>
          <a:prstGeom prst="rect">
            <a:avLst/>
          </a:prstGeom>
          <a:solidFill>
            <a:srgbClr val="F0F2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66B30901-6303-F983-CE9B-0C20CDF7C578}"/>
              </a:ext>
            </a:extLst>
          </p:cNvPr>
          <p:cNvSpPr txBox="1"/>
          <p:nvPr/>
        </p:nvSpPr>
        <p:spPr>
          <a:xfrm>
            <a:off x="848538" y="1243584"/>
            <a:ext cx="2925801" cy="3662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dirty="0">
                <a:solidFill>
                  <a:srgbClr val="000000"/>
                </a:solidFill>
                <a:latin typeface="Courier New"/>
              </a:rPr>
              <a:t>entity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multiadder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is
  generic (Nb: integer; log2NFIFO: integer);
  port (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datain_fifo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dataout_fifo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:
      in  signed(Nb-1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0);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dataout_accumulator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:
      in 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0);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:
      out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0));
end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multiadder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
architecture Behavioral of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multiadder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is
  signal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datain_fifo_large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,
     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dataout_fifo_large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:
   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0);
  signal mask0:
    signed(log2NFIFO-1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
    := (others =&gt; '0');
begin
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datain_fifo_large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 &lt;= mask0 &amp;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datain_fifo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
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dataout_fifo_large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&lt;= mask0 &amp;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dataout_fifo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
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&lt;=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dataout_accumulator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
    -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dataout_fifo_large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
    +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datain_fifo_large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
end Behavioral;</a:t>
            </a: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2D4CDD3A-A228-DCA5-53CF-11820A0C2190}"/>
              </a:ext>
            </a:extLst>
          </p:cNvPr>
          <p:cNvSpPr/>
          <p:nvPr/>
        </p:nvSpPr>
        <p:spPr>
          <a:xfrm>
            <a:off x="6033186" y="1188720"/>
            <a:ext cx="5440680" cy="1493520"/>
          </a:xfrm>
          <a:prstGeom prst="rect">
            <a:avLst/>
          </a:prstGeom>
          <a:solidFill>
            <a:srgbClr val="EBF4FB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154B5AF6-A649-3B0C-0251-BFF7ADEFEAFF}"/>
              </a:ext>
            </a:extLst>
          </p:cNvPr>
          <p:cNvSpPr/>
          <p:nvPr/>
        </p:nvSpPr>
        <p:spPr>
          <a:xfrm>
            <a:off x="6033186" y="1188720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F9027339-BB73-25B2-3134-8E4530949CFD}"/>
              </a:ext>
            </a:extLst>
          </p:cNvPr>
          <p:cNvSpPr txBox="1"/>
          <p:nvPr/>
        </p:nvSpPr>
        <p:spPr>
          <a:xfrm>
            <a:off x="6142914" y="1234440"/>
            <a:ext cx="52212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Formula </a:t>
            </a:r>
            <a:r>
              <a:rPr lang="it-IT" sz="11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Recursive MA Update</a:t>
            </a: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A69EA714-0FB0-09D9-3509-4761F056E13E}"/>
              </a:ext>
            </a:extLst>
          </p:cNvPr>
          <p:cNvSpPr txBox="1"/>
          <p:nvPr/>
        </p:nvSpPr>
        <p:spPr>
          <a:xfrm>
            <a:off x="6142914" y="1591056"/>
            <a:ext cx="5221224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yₙ = yₙ₋₁ − dₙ₋ₙFIFO + dₙ
Instead of summing NFIFO samples each cycle, only the oldest sample is subtracted and the newest added. O(1) complexity per clock cycle.</a:t>
            </a:r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484BF14C-DEAB-8594-E556-8D33774B2E35}"/>
              </a:ext>
            </a:extLst>
          </p:cNvPr>
          <p:cNvSpPr/>
          <p:nvPr/>
        </p:nvSpPr>
        <p:spPr>
          <a:xfrm>
            <a:off x="6033186" y="2791968"/>
            <a:ext cx="5440680" cy="1493520"/>
          </a:xfrm>
          <a:prstGeom prst="rect">
            <a:avLst/>
          </a:prstGeom>
          <a:solidFill>
            <a:srgbClr val="F0F8FF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CC5AB0F7-DF04-4008-0E71-4B306054224A}"/>
              </a:ext>
            </a:extLst>
          </p:cNvPr>
          <p:cNvSpPr/>
          <p:nvPr/>
        </p:nvSpPr>
        <p:spPr>
          <a:xfrm>
            <a:off x="6033186" y="2791968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56CF0A10-82C8-4E5A-7A3E-74977ACF0FE5}"/>
              </a:ext>
            </a:extLst>
          </p:cNvPr>
          <p:cNvSpPr txBox="1"/>
          <p:nvPr/>
        </p:nvSpPr>
        <p:spPr>
          <a:xfrm>
            <a:off x="6142914" y="2837688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Signal Widths</a:t>
            </a: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8EFFDE39-E702-C118-3583-AEA71E0BA2A1}"/>
              </a:ext>
            </a:extLst>
          </p:cNvPr>
          <p:cNvSpPr txBox="1"/>
          <p:nvPr/>
        </p:nvSpPr>
        <p:spPr>
          <a:xfrm>
            <a:off x="6142914" y="3194304"/>
            <a:ext cx="5221224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0000"/>
                </a:solidFill>
                <a:latin typeface="Calibri"/>
              </a:rPr>
              <a:t>•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datain_fifo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/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dataout_fifo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:  Nb = 8 bit
•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dataout_accumulator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(yₙ₋₁): 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Nb+log₂NFIFO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bits
•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dataout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(yₙ): 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Nb+log₂NFIFO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bits
Inputs UNSIGNED → zero-extension via mask0 (no sign error).</a:t>
            </a:r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517A1EC9-5DE4-15B0-35AB-863B849FED9A}"/>
              </a:ext>
            </a:extLst>
          </p:cNvPr>
          <p:cNvSpPr/>
          <p:nvPr/>
        </p:nvSpPr>
        <p:spPr>
          <a:xfrm>
            <a:off x="6033186" y="4395216"/>
            <a:ext cx="5440680" cy="1493520"/>
          </a:xfrm>
          <a:prstGeom prst="rect">
            <a:avLst/>
          </a:prstGeom>
          <a:solidFill>
            <a:srgbClr val="F0F8FF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4D0E48EA-7D86-21E0-97BF-908EF7D56E3D}"/>
              </a:ext>
            </a:extLst>
          </p:cNvPr>
          <p:cNvSpPr/>
          <p:nvPr/>
        </p:nvSpPr>
        <p:spPr>
          <a:xfrm>
            <a:off x="6033186" y="4395216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811B829C-307E-70B2-FAD2-4A90DE790DDA}"/>
              </a:ext>
            </a:extLst>
          </p:cNvPr>
          <p:cNvSpPr txBox="1"/>
          <p:nvPr/>
        </p:nvSpPr>
        <p:spPr>
          <a:xfrm>
            <a:off x="6142914" y="4440936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Key Implementation Note</a:t>
            </a:r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F4A3C7F7-CC42-27B9-4DA8-9ABBA6923E60}"/>
              </a:ext>
            </a:extLst>
          </p:cNvPr>
          <p:cNvSpPr txBox="1"/>
          <p:nvPr/>
        </p:nvSpPr>
        <p:spPr>
          <a:xfrm>
            <a:off x="6142914" y="4797552"/>
            <a:ext cx="5221224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Samples are unsigned (0…255). Upper log₂NFIFO bits padded with '0' using mask0 concatenation. Using signed arithmetic avoids overflow and simplifies accumulator feedback.</a:t>
            </a:r>
          </a:p>
        </p:txBody>
      </p:sp>
    </p:spTree>
    <p:extLst>
      <p:ext uri="{BB962C8B-B14F-4D97-AF65-F5344CB8AC3E}">
        <p14:creationId xmlns:p14="http://schemas.microsoft.com/office/powerpoint/2010/main" val="187973430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5D46E-BB9E-7232-5BD7-5923BA26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F9A3-73D2-EFB3-CA30-059CCAEB7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dirty="0" err="1">
                <a:latin typeface="Calibri"/>
              </a:rPr>
              <a:t>Multiadder</a:t>
            </a:r>
            <a:r>
              <a:rPr lang="it-IT" dirty="0">
                <a:latin typeface="Calibri"/>
              </a:rPr>
              <a:t> - </a:t>
            </a:r>
            <a:r>
              <a:rPr lang="it-IT" dirty="0" err="1">
                <a:latin typeface="Calibri"/>
              </a:rPr>
              <a:t>Testbench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074A0-907E-DA25-6D45-CFE030B434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98E95DE0-F01F-94C2-3F95-06FD42EC2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56144"/>
              </p:ext>
            </p:extLst>
          </p:nvPr>
        </p:nvGraphicFramePr>
        <p:xfrm>
          <a:off x="817248" y="1298449"/>
          <a:ext cx="10561951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7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 (dec)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Binary (14 bit)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datain_fifo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00000000000001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dₙ — current sample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dataout_fifo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00000000001111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dₙ₋ₙFIFO — oldest sample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dataout_accumulator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16383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11111111111111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yₙ₋₁ — running sum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dataout (expected)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1"/>
                          </a:solidFill>
                          <a:latin typeface="Calibri"/>
                        </a:rPr>
                        <a:t>16369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1"/>
                          </a:solidFill>
                          <a:latin typeface="Calibri"/>
                        </a:rPr>
                        <a:t>11111111110001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yₙ = 16383 − 15 + 1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ectangle 6">
            <a:extLst>
              <a:ext uri="{FF2B5EF4-FFF2-40B4-BE49-F238E27FC236}">
                <a16:creationId xmlns:a16="http://schemas.microsoft.com/office/drawing/2014/main" id="{93888F4A-0C6E-8BF5-F05D-A6C922F84899}"/>
              </a:ext>
            </a:extLst>
          </p:cNvPr>
          <p:cNvSpPr/>
          <p:nvPr/>
        </p:nvSpPr>
        <p:spPr>
          <a:xfrm>
            <a:off x="766232" y="3081529"/>
            <a:ext cx="10612968" cy="2807207"/>
          </a:xfrm>
          <a:prstGeom prst="rect">
            <a:avLst/>
          </a:prstGeom>
          <a:solidFill>
            <a:srgbClr val="F0F2F4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B72F281-0DB1-E004-FB24-047227815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1" y="3203975"/>
            <a:ext cx="10396154" cy="256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3051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4B077-4232-9595-FE49-8BBEE221C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ABBF-2A42-446F-AE01-02AF42A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dirty="0">
                <a:latin typeface="Calibri"/>
              </a:rPr>
              <a:t>Accumulator - Design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AE350-9370-4C23-FAE2-9A12B442B3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87B57244-EDB8-832F-F265-5E0E852EE529}"/>
              </a:ext>
            </a:extLst>
          </p:cNvPr>
          <p:cNvSpPr/>
          <p:nvPr/>
        </p:nvSpPr>
        <p:spPr>
          <a:xfrm>
            <a:off x="868680" y="1234440"/>
            <a:ext cx="5047488" cy="4681728"/>
          </a:xfrm>
          <a:prstGeom prst="rect">
            <a:avLst/>
          </a:prstGeom>
          <a:solidFill>
            <a:srgbClr val="F0F2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0EB53967-969C-A34D-E144-5D1FDE4C6B66}"/>
              </a:ext>
            </a:extLst>
          </p:cNvPr>
          <p:cNvSpPr txBox="1"/>
          <p:nvPr/>
        </p:nvSpPr>
        <p:spPr>
          <a:xfrm>
            <a:off x="868680" y="1289304"/>
            <a:ext cx="49743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dirty="0">
                <a:solidFill>
                  <a:srgbClr val="000000"/>
                </a:solidFill>
                <a:latin typeface="Courier New"/>
              </a:rPr>
              <a:t>entity accumulator is
  generic (Nb: integer; log2NFIFO: integer);
  port (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en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rst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clk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: in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std_logic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 : in 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0);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: out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0));
end accumulator;
architecture Behavioral of accumulator is
  signal reg :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
             := (others =&gt; '0');
begin
  process(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clk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)
  begin
    if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rising_edge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clk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) then
      if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rst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= '0' then
        reg &lt;= (others =&gt; '0'); 
  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elsif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en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= '1' then
        reg &lt;=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         
      end if;
    end if;
  end process;
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&lt;= reg;  
end Behavioral;</a:t>
            </a: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66CB4713-E7A7-E31B-2C21-AF135B8BF4B1}"/>
              </a:ext>
            </a:extLst>
          </p:cNvPr>
          <p:cNvSpPr/>
          <p:nvPr/>
        </p:nvSpPr>
        <p:spPr>
          <a:xfrm>
            <a:off x="6053328" y="1234440"/>
            <a:ext cx="5440680" cy="2286000"/>
          </a:xfrm>
          <a:prstGeom prst="rect">
            <a:avLst/>
          </a:prstGeom>
          <a:solidFill>
            <a:srgbClr val="EBF4FB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53F9CDD1-490C-402F-47F0-D9F9AD9E5A32}"/>
              </a:ext>
            </a:extLst>
          </p:cNvPr>
          <p:cNvSpPr/>
          <p:nvPr/>
        </p:nvSpPr>
        <p:spPr>
          <a:xfrm>
            <a:off x="6053328" y="1234440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A34A0199-EB8A-3FE0-1FD4-6E6EAC57961F}"/>
              </a:ext>
            </a:extLst>
          </p:cNvPr>
          <p:cNvSpPr txBox="1"/>
          <p:nvPr/>
        </p:nvSpPr>
        <p:spPr>
          <a:xfrm>
            <a:off x="6163056" y="1280160"/>
            <a:ext cx="52212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Function </a:t>
            </a:r>
            <a:r>
              <a:rPr lang="it-IT" sz="11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PIPO Register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E35DC332-4214-AB3D-E7BD-51AA4DF088A0}"/>
              </a:ext>
            </a:extLst>
          </p:cNvPr>
          <p:cNvSpPr txBox="1"/>
          <p:nvPr/>
        </p:nvSpPr>
        <p:spPr>
          <a:xfrm>
            <a:off x="6163056" y="1636776"/>
            <a:ext cx="522122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0000"/>
                </a:solidFill>
                <a:latin typeface="Calibri"/>
              </a:rPr>
              <a:t>Synchronous Parallel-In Parallel-Out register.
• Stores yₙ on every rising clock edge (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en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='1')
• Output is yₙ₋₁ </a:t>
            </a:r>
            <a:r>
              <a:rPr lang="it-IT" sz="1000" b="0" i="0" dirty="0">
                <a:solidFill>
                  <a:srgbClr val="000000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the running sum one cycle earlier
• Feeds back to the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Multiadder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input</a:t>
            </a: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8A554585-7659-8606-0786-A66D0BC8FD30}"/>
              </a:ext>
            </a:extLst>
          </p:cNvPr>
          <p:cNvSpPr/>
          <p:nvPr/>
        </p:nvSpPr>
        <p:spPr>
          <a:xfrm>
            <a:off x="6053328" y="3630168"/>
            <a:ext cx="5440680" cy="2286000"/>
          </a:xfrm>
          <a:prstGeom prst="rect">
            <a:avLst/>
          </a:prstGeom>
          <a:solidFill>
            <a:srgbClr val="F0F8FF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12023F39-12C2-5993-ACD0-FA642161EA58}"/>
              </a:ext>
            </a:extLst>
          </p:cNvPr>
          <p:cNvSpPr/>
          <p:nvPr/>
        </p:nvSpPr>
        <p:spPr>
          <a:xfrm>
            <a:off x="6053328" y="3630168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3AD370D1-F0CA-94A0-97BF-E78A37175193}"/>
              </a:ext>
            </a:extLst>
          </p:cNvPr>
          <p:cNvSpPr txBox="1"/>
          <p:nvPr/>
        </p:nvSpPr>
        <p:spPr>
          <a:xfrm>
            <a:off x="6163056" y="3675888"/>
            <a:ext cx="52212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Reset &amp; Width</a:t>
            </a: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623F3A75-77A4-83E4-D658-1161E2E088A6}"/>
              </a:ext>
            </a:extLst>
          </p:cNvPr>
          <p:cNvSpPr txBox="1"/>
          <p:nvPr/>
        </p:nvSpPr>
        <p:spPr>
          <a:xfrm>
            <a:off x="6163056" y="4032504"/>
            <a:ext cx="522122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000000"/>
                </a:solidFill>
                <a:latin typeface="Calibri"/>
              </a:rPr>
              <a:t>rst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='0' → synchronous active-low clear (reg ← 0)
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rst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='1' → normal operation
Width = Nb +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log₂NFIFO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= 14 bit for NFIFO=64
Max value = NFIFO </a:t>
            </a:r>
            <a:r>
              <a:rPr lang="it-IT" sz="1000" b="0" i="0" dirty="0">
                <a:solidFill>
                  <a:srgbClr val="000000"/>
                </a:solidFill>
                <a:latin typeface="Calibri"/>
              </a:rPr>
              <a:t>x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255 = 16320  →  fits in 14 bit </a:t>
            </a:r>
          </a:p>
        </p:txBody>
      </p:sp>
    </p:spTree>
    <p:extLst>
      <p:ext uri="{BB962C8B-B14F-4D97-AF65-F5344CB8AC3E}">
        <p14:creationId xmlns:p14="http://schemas.microsoft.com/office/powerpoint/2010/main" val="220726989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3D69C-D379-957B-2ED6-E28E2A0F7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2310-2236-8240-C1E9-B0F972BD6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dirty="0">
                <a:latin typeface="Calibri"/>
              </a:rPr>
              <a:t>Accumulator - </a:t>
            </a:r>
            <a:r>
              <a:rPr lang="it-IT" dirty="0" err="1">
                <a:latin typeface="Calibri"/>
              </a:rPr>
              <a:t>Testbench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4ABE0-8915-165B-E76A-381650997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D7459B62-2635-4DD4-EA09-BE6084F2F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391282"/>
              </p:ext>
            </p:extLst>
          </p:nvPr>
        </p:nvGraphicFramePr>
        <p:xfrm>
          <a:off x="766232" y="1538790"/>
          <a:ext cx="10709488" cy="1158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56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datains (constant)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dataouts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it-I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–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 expected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561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t &lt; 30 ns  (en='0')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3276  ("00110011001100")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0 </a:t>
                      </a:r>
                      <a:r>
                        <a:rPr lang="it-IT" sz="1000" dirty="0">
                          <a:latin typeface="Calibri"/>
                        </a:rPr>
                        <a:t>-</a:t>
                      </a:r>
                      <a:r>
                        <a:rPr sz="1000" dirty="0">
                          <a:latin typeface="Calibri"/>
                        </a:rPr>
                        <a:t> register not loaded yet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561">
                <a:tc>
                  <a:txBody>
                    <a:bodyPr/>
                    <a:lstStyle/>
                    <a:p>
                      <a:r>
                        <a:rPr sz="1000" b="0" dirty="0">
                          <a:latin typeface="Calibri"/>
                        </a:rPr>
                        <a:t>t ≥ ~40 ns  (</a:t>
                      </a:r>
                      <a:r>
                        <a:rPr sz="1000" b="0" dirty="0" err="1">
                          <a:latin typeface="Calibri"/>
                        </a:rPr>
                        <a:t>en</a:t>
                      </a:r>
                      <a:r>
                        <a:rPr sz="1000" b="0" dirty="0">
                          <a:latin typeface="Calibri"/>
                        </a:rPr>
                        <a:t>='1')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3276  ("00110011001100")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1"/>
                          </a:solidFill>
                          <a:latin typeface="Calibri"/>
                        </a:rPr>
                        <a:t>3276 — PIPO register latches input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Rectangle 5">
            <a:extLst>
              <a:ext uri="{FF2B5EF4-FFF2-40B4-BE49-F238E27FC236}">
                <a16:creationId xmlns:a16="http://schemas.microsoft.com/office/drawing/2014/main" id="{0636729B-C0E1-A89C-E93F-D7ABDB3A807D}"/>
              </a:ext>
            </a:extLst>
          </p:cNvPr>
          <p:cNvSpPr/>
          <p:nvPr/>
        </p:nvSpPr>
        <p:spPr>
          <a:xfrm>
            <a:off x="766232" y="2697752"/>
            <a:ext cx="10709488" cy="3181839"/>
          </a:xfrm>
          <a:prstGeom prst="rect">
            <a:avLst/>
          </a:prstGeom>
          <a:solidFill>
            <a:srgbClr val="F0F2F4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FC6DD40-175F-B296-E58A-C2A7AC104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0" y="2833742"/>
            <a:ext cx="10503779" cy="290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75067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Calibri"/>
              </a:rPr>
              <a:t>divide_by</a:t>
            </a:r>
            <a:r>
              <a:rPr dirty="0">
                <a:latin typeface="Calibri"/>
              </a:rPr>
              <a:t> </a:t>
            </a:r>
            <a:r>
              <a:rPr lang="it-IT" dirty="0">
                <a:latin typeface="Calibri"/>
              </a:rPr>
              <a:t>-</a:t>
            </a:r>
            <a:r>
              <a:rPr dirty="0">
                <a:latin typeface="Calibri"/>
              </a:rPr>
              <a:t>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454" y="1206946"/>
            <a:ext cx="5120640" cy="4700016"/>
          </a:xfrm>
          <a:prstGeom prst="rect">
            <a:avLst/>
          </a:prstGeom>
          <a:solidFill>
            <a:srgbClr val="F0F2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9606" y="1261810"/>
            <a:ext cx="3291286" cy="3662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dirty="0">
                <a:solidFill>
                  <a:srgbClr val="000000"/>
                </a:solidFill>
                <a:latin typeface="Courier New"/>
              </a:rPr>
              <a:t>entity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divide_by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is
  generic (Nb: integer; log2NFIFO: integer);
  port (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en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rst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clk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: in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std_logic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 : in 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0);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: out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0));
end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divide_by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
architecture Behavioral of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divide_by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is
  constant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Nacc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: integer := Nb + log2NFIFO;
  signal reg : signed(Nacc-1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
             := (others =&gt; '0');
begin
  process(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clk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)
  begin
    if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rising_edge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clk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) then
      if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rst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= '0' then
        reg &lt;= (others =&gt; '0');
  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elsif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en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= '1' then
        reg(Nacc-log2NFIFO-1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 &lt;=
      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(Nacc-1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log2NFIFO);
        reg(Nacc-1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Nacc-log2NFIFO) &lt;=
          (others =&gt; '0');
      end if;
    end if;
  end process;
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&lt;= reg;
end Behavioral;</a:t>
            </a:r>
          </a:p>
        </p:txBody>
      </p:sp>
      <p:sp>
        <p:nvSpPr>
          <p:cNvPr id="6" name="Rectangle 5"/>
          <p:cNvSpPr/>
          <p:nvPr/>
        </p:nvSpPr>
        <p:spPr>
          <a:xfrm>
            <a:off x="6024254" y="1206946"/>
            <a:ext cx="5440680" cy="1493520"/>
          </a:xfrm>
          <a:prstGeom prst="rect">
            <a:avLst/>
          </a:prstGeom>
          <a:solidFill>
            <a:srgbClr val="EBF4FB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24254" y="1206946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3982" y="1252666"/>
            <a:ext cx="52212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Principle </a:t>
            </a:r>
            <a:r>
              <a:rPr lang="it-IT" sz="11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Right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3982" y="1609282"/>
            <a:ext cx="5221224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NFIFO = 2^log₂NFIFO  →  division by NFIFO = arithmetic right-shift by log₂NFIFO positions.
No multiplier or divider needed — implemented as pure wiring in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24254" y="2810194"/>
            <a:ext cx="5440680" cy="1493520"/>
          </a:xfrm>
          <a:prstGeom prst="rect">
            <a:avLst/>
          </a:prstGeom>
          <a:solidFill>
            <a:srgbClr val="F0F8FF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24254" y="2810194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33982" y="2855914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Bit Mapping  (NFIFO=64, Nb=8)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3982" y="3212530"/>
            <a:ext cx="52212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000000"/>
                </a:solidFill>
                <a:latin typeface="Calibri"/>
              </a:rPr>
              <a:t>datain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[13:0] </a:t>
            </a:r>
            <a:r>
              <a:rPr lang="it-IT" sz="1000" b="0" i="0" dirty="0">
                <a:solidFill>
                  <a:srgbClr val="000000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accumulator output yₙ
  bits [13:6]  →  integer quotient
  bits  [5:0]  →  fractional (discarded)
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dataout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[13:0]
  bits  [7:0]  →  result (0…255)
  bits [13:8]  →  '000000' (zero-filled)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24254" y="4413442"/>
            <a:ext cx="5440680" cy="1493520"/>
          </a:xfrm>
          <a:prstGeom prst="rect">
            <a:avLst/>
          </a:prstGeom>
          <a:solidFill>
            <a:srgbClr val="F0F8FF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24254" y="4413442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3982" y="4459162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3982" y="4815778"/>
            <a:ext cx="52212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000000"/>
                </a:solidFill>
                <a:latin typeface="Calibri"/>
              </a:rPr>
              <a:t>datain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= 13119  ("11001100111111")
13119 ÷ 64 = 204  → 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dataout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= 204  
(Hex check: 333f → 00cc visible in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Vivado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Objects)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Calibri"/>
              </a:rPr>
              <a:t>divide_by</a:t>
            </a:r>
            <a:r>
              <a:rPr dirty="0">
                <a:latin typeface="Calibri"/>
              </a:rPr>
              <a:t> </a:t>
            </a:r>
            <a:r>
              <a:rPr lang="it-IT" dirty="0">
                <a:latin typeface="Calibri"/>
              </a:rPr>
              <a:t>-</a:t>
            </a:r>
            <a:r>
              <a:rPr dirty="0">
                <a:latin typeface="Calibri"/>
              </a:rPr>
              <a:t> Testbench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337911"/>
              </p:ext>
            </p:extLst>
          </p:nvPr>
        </p:nvGraphicFramePr>
        <p:xfrm>
          <a:off x="766232" y="1326452"/>
          <a:ext cx="1070948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2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4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9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 (dec)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Binary (14 bit)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datains (constant input)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13119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11001100111111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Constant test vector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000" b="0" dirty="0" err="1">
                          <a:latin typeface="Calibri"/>
                        </a:rPr>
                        <a:t>dataouts</a:t>
                      </a:r>
                      <a:r>
                        <a:rPr sz="1000" b="0" dirty="0">
                          <a:latin typeface="Calibri"/>
                        </a:rPr>
                        <a:t> (expected)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1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1"/>
                          </a:solidFill>
                          <a:latin typeface="Calibri"/>
                        </a:rPr>
                        <a:t>00000011001100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13119 &gt;&gt; 6 = 204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Hex visible in Objects panel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datains=333f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dataouts=00cc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Correct before waveform run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6232" y="3018092"/>
            <a:ext cx="10709487" cy="2861500"/>
          </a:xfrm>
          <a:prstGeom prst="rect">
            <a:avLst/>
          </a:prstGeom>
          <a:solidFill>
            <a:srgbClr val="F0F2F4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CEB19AA-D506-37BF-3462-0C26DE2F5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0" y="3101228"/>
            <a:ext cx="10486165" cy="26605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/>
              </a:rPr>
              <a:t>Frequency Response </a:t>
            </a:r>
            <a:r>
              <a:rPr lang="it-IT" dirty="0">
                <a:latin typeface="Calibri"/>
              </a:rPr>
              <a:t>-</a:t>
            </a:r>
            <a:r>
              <a:rPr dirty="0">
                <a:latin typeface="Calibri"/>
              </a:rPr>
              <a:t> NFIFO = 32, 64, 128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61872"/>
            <a:ext cx="2423160" cy="1399032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61872"/>
            <a:ext cx="2423160" cy="329184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29844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NFIFO=32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22402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Calibri"/>
              </a:rPr>
              <a:t>fcutoff = fs/(2·NFIFO) = 781 kHz
Wider passband, less noise rejection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52344"/>
            <a:ext cx="2423160" cy="1399032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752344"/>
            <a:ext cx="2423160" cy="32918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NFIFO=64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36392"/>
            <a:ext cx="22402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Calibri"/>
              </a:rPr>
              <a:t>fcutoff = fs/(2·NFIFO) = 391 kHz
Good balance: signal + noise well separated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242816"/>
            <a:ext cx="2423160" cy="1399032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4242816"/>
            <a:ext cx="2423160" cy="329184"/>
          </a:xfrm>
          <a:prstGeom prst="rect">
            <a:avLst/>
          </a:prstGeom>
          <a:solidFill>
            <a:srgbClr val="B7950B"/>
          </a:solidFill>
          <a:ln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27939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NFIFO=128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26864"/>
            <a:ext cx="22402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Calibri"/>
              </a:rPr>
              <a:t>fcutoff = fs/(2·NFIFO) = 195 kHz ≈ f₀
Narrowest band. Signal starts to attenuate!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80" y="5743048"/>
            <a:ext cx="10607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335577"/>
                </a:solidFill>
                <a:latin typeface="Calibri"/>
              </a:rPr>
              <a:t>Key: larger NFIFO → narrower passband → more noise rejection. For NFIFO=128, </a:t>
            </a:r>
            <a:r>
              <a:rPr sz="1200" b="0" i="0" dirty="0" err="1">
                <a:solidFill>
                  <a:srgbClr val="335577"/>
                </a:solidFill>
                <a:latin typeface="Calibri"/>
              </a:rPr>
              <a:t>fcutoff</a:t>
            </a:r>
            <a:r>
              <a:rPr sz="1200" b="0" i="0" dirty="0">
                <a:solidFill>
                  <a:srgbClr val="335577"/>
                </a:solidFill>
                <a:latin typeface="Calibri"/>
              </a:rPr>
              <a:t> ≈ f₀ → signal itself attenuated</a:t>
            </a:r>
            <a:r>
              <a:rPr sz="850" b="0" i="0" dirty="0">
                <a:solidFill>
                  <a:srgbClr val="335577"/>
                </a:solidFill>
                <a:latin typeface="Calibri"/>
              </a:rPr>
              <a:t>.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E984A81F-295E-15A4-38BA-95220A703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850" y="1261872"/>
            <a:ext cx="5793408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/>
              </a:rPr>
              <a:t>Time Domain </a:t>
            </a:r>
            <a:r>
              <a:rPr lang="it-IT" dirty="0">
                <a:latin typeface="Calibri"/>
              </a:rPr>
              <a:t>-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ysignal</a:t>
            </a:r>
            <a:r>
              <a:rPr dirty="0">
                <a:latin typeface="Calibri"/>
              </a:rPr>
              <a:t> + </a:t>
            </a:r>
            <a:r>
              <a:rPr dirty="0" err="1">
                <a:latin typeface="Calibri"/>
              </a:rPr>
              <a:t>ynoise</a:t>
            </a:r>
            <a:r>
              <a:rPr dirty="0">
                <a:latin typeface="Calibri"/>
              </a:rPr>
              <a:t> (filter output)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0605" y="5560434"/>
            <a:ext cx="71107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latin typeface="Calibri"/>
              </a:rPr>
              <a:t>All three filters preserve the sinusoidal shape. Trade-off between noise rejection and group delay is visible</a:t>
            </a:r>
            <a:r>
              <a:rPr sz="850" b="0" i="0" dirty="0">
                <a:solidFill>
                  <a:srgbClr val="335577"/>
                </a:solidFill>
                <a:latin typeface="Calibri"/>
              </a:rPr>
              <a:t>.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52110CA6-604F-D23D-6483-D2C527B7DFDF}"/>
              </a:ext>
            </a:extLst>
          </p:cNvPr>
          <p:cNvSpPr/>
          <p:nvPr/>
        </p:nvSpPr>
        <p:spPr>
          <a:xfrm>
            <a:off x="7322168" y="1427993"/>
            <a:ext cx="2116665" cy="869437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08A0FDA4-61AF-A79D-D1E2-D427088FC27B}"/>
              </a:ext>
            </a:extLst>
          </p:cNvPr>
          <p:cNvSpPr/>
          <p:nvPr/>
        </p:nvSpPr>
        <p:spPr>
          <a:xfrm>
            <a:off x="7322168" y="1427993"/>
            <a:ext cx="2116665" cy="292608"/>
          </a:xfrm>
          <a:prstGeom prst="rect">
            <a:avLst/>
          </a:prstGeom>
          <a:solidFill>
            <a:srgbClr val="C0000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284DF82C-67C8-F6C6-E435-A97ADF9ED369}"/>
              </a:ext>
            </a:extLst>
          </p:cNvPr>
          <p:cNvSpPr txBox="1"/>
          <p:nvPr/>
        </p:nvSpPr>
        <p:spPr>
          <a:xfrm>
            <a:off x="7411115" y="1445815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NFIFO=32</a:t>
            </a: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3CD30AFE-C556-FABB-A694-EB395E095625}"/>
              </a:ext>
            </a:extLst>
          </p:cNvPr>
          <p:cNvSpPr txBox="1"/>
          <p:nvPr/>
        </p:nvSpPr>
        <p:spPr>
          <a:xfrm>
            <a:off x="7413608" y="1812041"/>
            <a:ext cx="2025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libri"/>
              </a:rPr>
              <a:t>More residual noise. 16-sample delay (0.32 µs). Passes more noise.</a:t>
            </a: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2999AFE2-CB92-BB11-91B7-EAFCCFD1D207}"/>
              </a:ext>
            </a:extLst>
          </p:cNvPr>
          <p:cNvSpPr/>
          <p:nvPr/>
        </p:nvSpPr>
        <p:spPr>
          <a:xfrm>
            <a:off x="7319675" y="2447742"/>
            <a:ext cx="2116665" cy="873607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6401ED32-EBBA-2500-AD1B-E26C0AEC760A}"/>
              </a:ext>
            </a:extLst>
          </p:cNvPr>
          <p:cNvSpPr/>
          <p:nvPr/>
        </p:nvSpPr>
        <p:spPr>
          <a:xfrm>
            <a:off x="7319675" y="2447742"/>
            <a:ext cx="2116665" cy="347472"/>
          </a:xfrm>
          <a:prstGeom prst="rect">
            <a:avLst/>
          </a:prstGeom>
          <a:solidFill>
            <a:srgbClr val="00B05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4562A437-42B1-5A0F-9705-C8C06270DED0}"/>
              </a:ext>
            </a:extLst>
          </p:cNvPr>
          <p:cNvSpPr txBox="1"/>
          <p:nvPr/>
        </p:nvSpPr>
        <p:spPr>
          <a:xfrm>
            <a:off x="7411115" y="248431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NFIFO=64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AC873AEB-4791-012D-C562-908BC27FE889}"/>
              </a:ext>
            </a:extLst>
          </p:cNvPr>
          <p:cNvSpPr txBox="1"/>
          <p:nvPr/>
        </p:nvSpPr>
        <p:spPr>
          <a:xfrm>
            <a:off x="7411115" y="2831790"/>
            <a:ext cx="202522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libri"/>
              </a:rPr>
              <a:t>Good balance. Noise clearly reduced, sinusoid well preserved.</a:t>
            </a:r>
          </a:p>
          <a:p>
            <a:pPr algn="l"/>
            <a:endParaRPr sz="900" b="0" i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C3D73D91-9BB8-07BA-0990-AB86AD1B0450}"/>
              </a:ext>
            </a:extLst>
          </p:cNvPr>
          <p:cNvSpPr/>
          <p:nvPr/>
        </p:nvSpPr>
        <p:spPr>
          <a:xfrm>
            <a:off x="7322168" y="3510640"/>
            <a:ext cx="2116665" cy="873607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C7DC5355-A816-3B32-8E21-D86CC776E66F}"/>
              </a:ext>
            </a:extLst>
          </p:cNvPr>
          <p:cNvSpPr/>
          <p:nvPr/>
        </p:nvSpPr>
        <p:spPr>
          <a:xfrm>
            <a:off x="7322168" y="3510640"/>
            <a:ext cx="2116665" cy="347472"/>
          </a:xfrm>
          <a:prstGeom prst="rect">
            <a:avLst/>
          </a:prstGeom>
          <a:solidFill>
            <a:srgbClr val="0070C0"/>
          </a:solidFill>
          <a:ln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BB16B335-1815-8ED4-223E-9733F1813B08}"/>
              </a:ext>
            </a:extLst>
          </p:cNvPr>
          <p:cNvSpPr txBox="1"/>
          <p:nvPr/>
        </p:nvSpPr>
        <p:spPr>
          <a:xfrm>
            <a:off x="7413608" y="354721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NFIFO=128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48EEF112-D3DB-4222-4CAB-9B1A68E5AFBE}"/>
              </a:ext>
            </a:extLst>
          </p:cNvPr>
          <p:cNvSpPr txBox="1"/>
          <p:nvPr/>
        </p:nvSpPr>
        <p:spPr>
          <a:xfrm>
            <a:off x="7413608" y="3894688"/>
            <a:ext cx="2025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libri"/>
              </a:rPr>
              <a:t>Smoothest but 64-sample delay (1.28 µs). Signal slightly attenuated at f₀.</a:t>
            </a:r>
            <a:endParaRPr sz="900" b="0" i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6213582A-ADCD-E5BB-FF5D-5639B312C7E1}"/>
              </a:ext>
            </a:extLst>
          </p:cNvPr>
          <p:cNvSpPr/>
          <p:nvPr/>
        </p:nvSpPr>
        <p:spPr>
          <a:xfrm>
            <a:off x="7315534" y="4586926"/>
            <a:ext cx="2116665" cy="873607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88915C06-B416-935C-6B9C-2235AC0680D2}"/>
              </a:ext>
            </a:extLst>
          </p:cNvPr>
          <p:cNvSpPr/>
          <p:nvPr/>
        </p:nvSpPr>
        <p:spPr>
          <a:xfrm>
            <a:off x="7315534" y="4586926"/>
            <a:ext cx="2116665" cy="347472"/>
          </a:xfrm>
          <a:prstGeom prst="rect">
            <a:avLst/>
          </a:prstGeom>
          <a:solidFill>
            <a:schemeClr val="tx1"/>
          </a:solidFill>
          <a:ln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5FADB323-39EA-9430-3A1D-21EFBCA2AD8B}"/>
              </a:ext>
            </a:extLst>
          </p:cNvPr>
          <p:cNvSpPr txBox="1"/>
          <p:nvPr/>
        </p:nvSpPr>
        <p:spPr>
          <a:xfrm>
            <a:off x="7406974" y="4623502"/>
            <a:ext cx="2240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100" b="1" dirty="0">
                <a:solidFill>
                  <a:srgbClr val="FFFFFF"/>
                </a:solidFill>
                <a:latin typeface="Calibri"/>
              </a:rPr>
              <a:t>Pure </a:t>
            </a:r>
            <a:r>
              <a:rPr lang="it-IT" sz="1100" b="1" dirty="0" err="1">
                <a:solidFill>
                  <a:srgbClr val="FFFFFF"/>
                </a:solidFill>
                <a:latin typeface="Calibri"/>
              </a:rPr>
              <a:t>signal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98B07A36-E6DE-13FA-B8CB-7EF577C3B74F}"/>
              </a:ext>
            </a:extLst>
          </p:cNvPr>
          <p:cNvSpPr txBox="1"/>
          <p:nvPr/>
        </p:nvSpPr>
        <p:spPr>
          <a:xfrm>
            <a:off x="7406974" y="4970974"/>
            <a:ext cx="2025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libri"/>
              </a:rPr>
              <a:t>Lower DC: excludes noise mean offset (pnoise≈44 LSB). Reference only.</a:t>
            </a:r>
            <a:endParaRPr sz="900" b="0" i="0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C6D5CA6-288E-C343-2BF3-F85539AF8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32" y="1427061"/>
            <a:ext cx="5509787" cy="40147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/>
              </a:rPr>
              <a:t>Time Domain </a:t>
            </a:r>
            <a:r>
              <a:rPr lang="it-IT" dirty="0">
                <a:latin typeface="Calibri"/>
              </a:rPr>
              <a:t>-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ynoise</a:t>
            </a:r>
            <a:r>
              <a:rPr dirty="0">
                <a:latin typeface="Calibri"/>
              </a:rPr>
              <a:t> (Residual Noise Evolution)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78175"/>
              </p:ext>
            </p:extLst>
          </p:nvPr>
        </p:nvGraphicFramePr>
        <p:xfrm>
          <a:off x="766232" y="4517509"/>
          <a:ext cx="1070948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8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4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NFIFO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Noise RMS [LSB]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Reduction vs input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Noise Bandwidth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6.90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≈ 3.4×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781.25 kHz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≈ 4.9×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390.63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3.35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≈ 7.0×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195.31 kHz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68246" y="5954226"/>
            <a:ext cx="77054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latin typeface="Calibri"/>
              </a:rPr>
              <a:t>Noise RMS decreases monotonically: 6.90 → 4.79 → 3.35 LSB. NFIFO=128 achieves ≈7</a:t>
            </a:r>
            <a:r>
              <a:rPr lang="it-IT" sz="1200" b="0" i="0" dirty="0">
                <a:latin typeface="Calibri"/>
              </a:rPr>
              <a:t>x</a:t>
            </a:r>
            <a:r>
              <a:rPr sz="1200" b="0" i="0" dirty="0">
                <a:latin typeface="Calibri"/>
              </a:rPr>
              <a:t> noise reduction vs input.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0816165-83E0-297F-0E34-3E2C843A6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80" y="1332558"/>
            <a:ext cx="5521920" cy="29778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/>
              </a:rPr>
              <a:t>Signal to Noise Ratio </a:t>
            </a:r>
            <a:r>
              <a:rPr lang="it-IT" dirty="0">
                <a:latin typeface="Calibri"/>
              </a:rPr>
              <a:t>-</a:t>
            </a:r>
            <a:r>
              <a:rPr dirty="0">
                <a:latin typeface="Calibri"/>
              </a:rPr>
              <a:t> NFIFO = 32, 64, 128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9200" y="3651898"/>
            <a:ext cx="1005840" cy="152019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9200" y="337757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C0"/>
                </a:solidFill>
                <a:latin typeface="Calibri"/>
              </a:rPr>
              <a:t>15.5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521780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  <a:latin typeface="Calibri"/>
              </a:rPr>
              <a:t>NFIFO=32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2240" y="2483523"/>
            <a:ext cx="1005840" cy="2688564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82240" y="220920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7293"/>
                </a:solidFill>
                <a:latin typeface="Calibri"/>
              </a:rPr>
              <a:t>18.19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2240" y="521780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  <a:latin typeface="Calibri"/>
              </a:rPr>
              <a:t>NFIFO=64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5280" y="2279383"/>
            <a:ext cx="1005840" cy="2892704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45280" y="200506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18.66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5280" y="521780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  <a:latin typeface="Calibri"/>
              </a:rPr>
              <a:t>NFIFO=128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5172088"/>
            <a:ext cx="5029200" cy="127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233" y="54108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555555"/>
                </a:solidFill>
                <a:latin typeface="Calibri"/>
              </a:rPr>
              <a:t>SNR [dB]  (min axis = 12 dB)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179947"/>
              </p:ext>
            </p:extLst>
          </p:nvPr>
        </p:nvGraphicFramePr>
        <p:xfrm>
          <a:off x="5960985" y="1796286"/>
          <a:ext cx="5445605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6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66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88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NFIFO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fcutoff
[kHz]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Noise RMS
[LSB]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SNR [dB]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ΔSNR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781.25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6.90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15.50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dirty="0">
                          <a:latin typeface="Calibri"/>
                        </a:rPr>
                        <a:t>-</a:t>
                      </a:r>
                      <a:endParaRPr sz="1000" dirty="0">
                        <a:latin typeface="Calibri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390.63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18.19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+2.69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chemeClr val="tx1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chemeClr val="tx1"/>
                          </a:solidFill>
                          <a:latin typeface="Calibri"/>
                        </a:rPr>
                        <a:t>195.31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chemeClr val="tx1"/>
                          </a:solidFill>
                          <a:latin typeface="Calibri"/>
                        </a:rPr>
                        <a:t>3.35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chemeClr val="tx1"/>
                          </a:solidFill>
                          <a:latin typeface="Calibri"/>
                        </a:rPr>
                        <a:t>18.66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1"/>
                          </a:solidFill>
                          <a:latin typeface="Calibri"/>
                        </a:rPr>
                        <a:t>+3.16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960985" y="3625086"/>
            <a:ext cx="620370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950" b="0" i="0" dirty="0">
                <a:solidFill>
                  <a:srgbClr val="000000"/>
                </a:solidFill>
                <a:latin typeface="Calibri"/>
              </a:rPr>
              <a:t>-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SNR improves monotonically: 15.50 → 18.19 → 18.66 </a:t>
            </a:r>
            <a:r>
              <a:rPr sz="950" b="0" i="0" dirty="0" err="1">
                <a:solidFill>
                  <a:srgbClr val="000000"/>
                </a:solidFill>
                <a:latin typeface="Calibri"/>
              </a:rPr>
              <a:t>dB.</a:t>
            </a:r>
            <a:endParaRPr sz="950" b="0" i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60985" y="3945126"/>
            <a:ext cx="620370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950" b="0" i="0" dirty="0">
                <a:solidFill>
                  <a:srgbClr val="000000"/>
                </a:solidFill>
                <a:latin typeface="Calibri"/>
              </a:rPr>
              <a:t>-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NFIFO=32→64: +2.69 dB (significant gain).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0985" y="4265166"/>
            <a:ext cx="620370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950" dirty="0">
                <a:solidFill>
                  <a:srgbClr val="000000"/>
                </a:solidFill>
                <a:latin typeface="Calibri"/>
              </a:rPr>
              <a:t>-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 NFIFO=64→128: +0.47 dB only </a:t>
            </a:r>
            <a:r>
              <a:rPr lang="it-IT" sz="950" b="0" i="0" dirty="0">
                <a:solidFill>
                  <a:srgbClr val="000000"/>
                </a:solidFill>
                <a:latin typeface="Calibri"/>
              </a:rPr>
              <a:t>-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diminishing returns because </a:t>
            </a:r>
            <a:r>
              <a:rPr sz="950" b="0" i="0" dirty="0" err="1">
                <a:solidFill>
                  <a:srgbClr val="000000"/>
                </a:solidFill>
                <a:latin typeface="Calibri"/>
              </a:rPr>
              <a:t>fcutoff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≈ f₀.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0985" y="4585206"/>
            <a:ext cx="620370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950" dirty="0">
                <a:solidFill>
                  <a:srgbClr val="000000"/>
                </a:solidFill>
                <a:latin typeface="Calibri"/>
              </a:rPr>
              <a:t>-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 For NFIFO=128, filter also attenuates the signal (f₀ = </a:t>
            </a:r>
            <a:r>
              <a:rPr sz="950" b="0" i="0" dirty="0" err="1">
                <a:solidFill>
                  <a:srgbClr val="000000"/>
                </a:solidFill>
                <a:latin typeface="Calibri"/>
              </a:rPr>
              <a:t>fcutoff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= 195 kHz).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0985" y="4905246"/>
            <a:ext cx="620370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950" dirty="0">
                <a:solidFill>
                  <a:srgbClr val="000000"/>
                </a:solidFill>
                <a:latin typeface="Calibri"/>
              </a:rPr>
              <a:t>-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 SNR calculated via MATLAB snr() on AC component of VIVADO output.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Summary Table and Comments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545057"/>
              </p:ext>
            </p:extLst>
          </p:nvPr>
        </p:nvGraphicFramePr>
        <p:xfrm>
          <a:off x="788436" y="1188720"/>
          <a:ext cx="10595844" cy="4208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1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1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1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07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NFIFO = 32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NFIFO = 64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NFIFO = 128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log₂NFIFO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r>
                        <a:rPr sz="1000" dirty="0" err="1">
                          <a:latin typeface="Calibri"/>
                        </a:rPr>
                        <a:t>fcutoff</a:t>
                      </a:r>
                      <a:r>
                        <a:rPr sz="1000" dirty="0">
                          <a:latin typeface="Calibri"/>
                        </a:rPr>
                        <a:t> [kHz]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781.25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390.63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195.31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Noise Bandwidth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Wide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Narrow ← best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Noise RMS [LSB]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3.35 ← best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SNR [dB]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15.50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18.19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18.66 ← best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ΔSNR vs NFIFO=32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dirty="0">
                          <a:latin typeface="Calibri"/>
                        </a:rPr>
                        <a:t>-</a:t>
                      </a:r>
                      <a:endParaRPr sz="1000" dirty="0"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+2.69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+3.16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Group delay [samples]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64 ← worst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Group delay [µs]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1.28 ← worst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Signal atten. at f₀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Negligible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Significant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dataout width [bit]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Best use case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Low latency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Balanced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Max noise reject.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26530" y="5438447"/>
            <a:ext cx="69389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latin typeface="Calibri"/>
              </a:rPr>
              <a:t>Trade-off: larger NFIFO → better SNR + narrower noise bandwidth, but higher group delay and signal attenuation when </a:t>
            </a:r>
            <a:r>
              <a:rPr sz="1200" b="0" i="0" dirty="0" err="1">
                <a:latin typeface="Calibri"/>
              </a:rPr>
              <a:t>fcutoff</a:t>
            </a:r>
            <a:r>
              <a:rPr sz="1200" b="0" i="0" dirty="0">
                <a:latin typeface="Calibri"/>
              </a:rPr>
              <a:t> approaches f₀.  NFIFO=64 offers the best practical compromise</a:t>
            </a:r>
            <a:r>
              <a:rPr sz="900" b="0" i="0" dirty="0">
                <a:solidFill>
                  <a:srgbClr val="33557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232" y="1313765"/>
            <a:ext cx="10724727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Moving Average Filter successfully implemented on FPGA in VHDL</a:t>
            </a:r>
          </a:p>
          <a:p>
            <a:pPr marL="57150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All 4 components verified independently with dedicated testbenches and end-to-end with tb_filter_ma</a:t>
            </a:r>
          </a:p>
          <a:p>
            <a:pPr>
              <a:buNone/>
            </a:pPr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SNR improves with NFIFO:  15.50 dB → 18.19 dB → 18.66 dB</a:t>
            </a:r>
          </a:p>
          <a:p>
            <a:pPr marL="57150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Each doubling of NFIFO halves the noise bandwidth with diminishing returns as f₀ → fcutoff</a:t>
            </a:r>
          </a:p>
          <a:p>
            <a:pPr>
              <a:buNone/>
            </a:pPr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Key trade-off: noise rejection vs group delay vs signal attenuation</a:t>
            </a:r>
          </a:p>
          <a:p>
            <a:pPr marL="57150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NFIFO=64 offers the best practical balance (SNR=18.19 dB, delay=0.64 µs, no signal loss)</a:t>
            </a:r>
          </a:p>
          <a:p>
            <a:pPr>
              <a:buNone/>
            </a:pPr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Possible improvements:</a:t>
            </a:r>
          </a:p>
          <a:p>
            <a:pPr marL="57150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Weighted MA (Hann/Hamming window) for sharper frequency roll-off</a:t>
            </a:r>
          </a:p>
          <a:p>
            <a:pPr marL="57150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Configurable NFIFO via register to switch filter bandwidth at runtime</a:t>
            </a:r>
          </a:p>
          <a:p>
            <a:pPr marL="57150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Pipelined FIFO for higher throughput at the same clock frequency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69900" marR="0" indent="-469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Char char="o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69900" marR="0" indent="-469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Char char="o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50" charset="-128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9A656CF8C467741A56A16B7574AC68E" ma:contentTypeVersion="12" ma:contentTypeDescription="Creare un nuovo documento." ma:contentTypeScope="" ma:versionID="4f27b0f6ef663e5da5bafac1efc6fe9a">
  <xsd:schema xmlns:xsd="http://www.w3.org/2001/XMLSchema" xmlns:xs="http://www.w3.org/2001/XMLSchema" xmlns:p="http://schemas.microsoft.com/office/2006/metadata/properties" xmlns:ns3="d81608ca-db68-4891-9f53-9b89cbfff5c6" xmlns:ns4="be3c09a5-e964-4602-bd74-bbf48e0fabf1" targetNamespace="http://schemas.microsoft.com/office/2006/metadata/properties" ma:root="true" ma:fieldsID="8a6d6b69e42fa993b1c0a33dd1bd5a45" ns3:_="" ns4:_="">
    <xsd:import namespace="d81608ca-db68-4891-9f53-9b89cbfff5c6"/>
    <xsd:import namespace="be3c09a5-e964-4602-bd74-bbf48e0fabf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608ca-db68-4891-9f53-9b89cbfff5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c09a5-e964-4602-bd74-bbf48e0fabf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81608ca-db68-4891-9f53-9b89cbfff5c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7A1D52-4C7C-4BE2-BA1D-9D952C857E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608ca-db68-4891-9f53-9b89cbfff5c6"/>
    <ds:schemaRef ds:uri="be3c09a5-e964-4602-bd74-bbf48e0fab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5952B0-BE3F-4397-8C49-DFA106167C99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dcmitype/"/>
    <ds:schemaRef ds:uri="http://schemas.openxmlformats.org/package/2006/metadata/core-properties"/>
    <ds:schemaRef ds:uri="be3c09a5-e964-4602-bd74-bbf48e0fabf1"/>
    <ds:schemaRef ds:uri="d81608ca-db68-4891-9f53-9b89cbfff5c6"/>
    <ds:schemaRef ds:uri="http://www.w3.org/XML/1998/namespace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E8D78F2-F211-4F79-8A63-15AEAF64F2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10544</TotalTime>
  <Words>1981</Words>
  <Application>Microsoft Office PowerPoint</Application>
  <PresentationFormat>Widescreen</PresentationFormat>
  <Paragraphs>251</Paragraphs>
  <Slides>14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3" baseType="lpstr">
      <vt:lpstr>Arial</vt:lpstr>
      <vt:lpstr>Calibri</vt:lpstr>
      <vt:lpstr>Comic Sans MS</vt:lpstr>
      <vt:lpstr>Courier New</vt:lpstr>
      <vt:lpstr>NimbusRomNo9L-Regu</vt:lpstr>
      <vt:lpstr>Times New Roman</vt:lpstr>
      <vt:lpstr>Verdana</vt:lpstr>
      <vt:lpstr>Wingdings</vt:lpstr>
      <vt:lpstr>Profile</vt:lpstr>
      <vt:lpstr> El Hanafi Nadim 894489</vt:lpstr>
      <vt:lpstr>Introduction - filter_ma Architecture</vt:lpstr>
      <vt:lpstr>Multiadder — Design</vt:lpstr>
      <vt:lpstr>Multiadder - Testbench</vt:lpstr>
      <vt:lpstr>Accumulator - Design</vt:lpstr>
      <vt:lpstr>Accumulator - Testbench</vt:lpstr>
      <vt:lpstr>divide_by - Design</vt:lpstr>
      <vt:lpstr>divide_by - Testbench</vt:lpstr>
      <vt:lpstr>Frequency Response - NFIFO = 32, 64, 128</vt:lpstr>
      <vt:lpstr>Time Domain - ysignal + ynoise (filter output)</vt:lpstr>
      <vt:lpstr>Time Domain - ynoise (Residual Noise Evolution)</vt:lpstr>
      <vt:lpstr>Signal to Noise Ratio - NFIFO = 32, 64, 128</vt:lpstr>
      <vt:lpstr>Summary Table and Comments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</dc:creator>
  <cp:lastModifiedBy>Nadim El Hanafi</cp:lastModifiedBy>
  <cp:revision>8551</cp:revision>
  <cp:lastPrinted>2022-09-05T12:26:59Z</cp:lastPrinted>
  <dcterms:created xsi:type="dcterms:W3CDTF">2009-04-22T19:24:48Z</dcterms:created>
  <dcterms:modified xsi:type="dcterms:W3CDTF">2026-06-16T12:43:49Z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0x01010009A656CF8C467741A56A16B7574AC68E</vt:lpwstr>
  </property>
</Properties>
</file>